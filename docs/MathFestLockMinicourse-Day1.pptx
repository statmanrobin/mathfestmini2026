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56" r:id="rId2"/>
    <p:sldId id="444" r:id="rId3"/>
    <p:sldId id="445" r:id="rId4"/>
    <p:sldId id="446" r:id="rId5"/>
    <p:sldId id="447" r:id="rId6"/>
    <p:sldId id="448" r:id="rId7"/>
    <p:sldId id="449" r:id="rId8"/>
    <p:sldId id="422" r:id="rId9"/>
    <p:sldId id="423" r:id="rId10"/>
    <p:sldId id="360" r:id="rId11"/>
    <p:sldId id="361" r:id="rId12"/>
    <p:sldId id="362" r:id="rId13"/>
    <p:sldId id="450" r:id="rId14"/>
    <p:sldId id="451" r:id="rId15"/>
    <p:sldId id="408" r:id="rId16"/>
    <p:sldId id="398" r:id="rId17"/>
    <p:sldId id="424" r:id="rId18"/>
    <p:sldId id="425" r:id="rId19"/>
    <p:sldId id="426" r:id="rId20"/>
    <p:sldId id="427" r:id="rId21"/>
    <p:sldId id="358" r:id="rId22"/>
    <p:sldId id="488" r:id="rId23"/>
    <p:sldId id="489" r:id="rId24"/>
    <p:sldId id="490" r:id="rId25"/>
    <p:sldId id="491" r:id="rId26"/>
    <p:sldId id="329" r:id="rId27"/>
    <p:sldId id="454" r:id="rId28"/>
    <p:sldId id="492" r:id="rId29"/>
    <p:sldId id="419" r:id="rId30"/>
    <p:sldId id="455" r:id="rId31"/>
    <p:sldId id="336" r:id="rId32"/>
    <p:sldId id="456" r:id="rId33"/>
    <p:sldId id="486" r:id="rId34"/>
    <p:sldId id="487" r:id="rId35"/>
    <p:sldId id="493" r:id="rId36"/>
    <p:sldId id="494" r:id="rId37"/>
    <p:sldId id="495" r:id="rId38"/>
    <p:sldId id="546" r:id="rId39"/>
    <p:sldId id="588" r:id="rId40"/>
    <p:sldId id="479" r:id="rId41"/>
    <p:sldId id="337" r:id="rId42"/>
    <p:sldId id="338" r:id="rId43"/>
    <p:sldId id="545" r:id="rId44"/>
    <p:sldId id="551" r:id="rId45"/>
    <p:sldId id="438" r:id="rId46"/>
    <p:sldId id="439" r:id="rId47"/>
    <p:sldId id="440" r:id="rId48"/>
    <p:sldId id="441" r:id="rId49"/>
    <p:sldId id="589" r:id="rId50"/>
    <p:sldId id="590" r:id="rId51"/>
    <p:sldId id="591" r:id="rId52"/>
    <p:sldId id="592" r:id="rId53"/>
    <p:sldId id="593" r:id="rId54"/>
    <p:sldId id="594" r:id="rId55"/>
    <p:sldId id="434" r:id="rId5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01" autoAdjust="0"/>
    <p:restoredTop sz="92758" autoAdjust="0"/>
  </p:normalViewPr>
  <p:slideViewPr>
    <p:cSldViewPr>
      <p:cViewPr varScale="1">
        <p:scale>
          <a:sx n="77" d="100"/>
          <a:sy n="77" d="100"/>
        </p:scale>
        <p:origin x="1661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94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1"/>
          </a:xfrm>
          <a:prstGeom prst="rect">
            <a:avLst/>
          </a:prstGeom>
        </p:spPr>
        <p:txBody>
          <a:bodyPr vert="horz" lIns="95646" tIns="47823" rIns="95646" bIns="4782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1"/>
          </a:xfrm>
          <a:prstGeom prst="rect">
            <a:avLst/>
          </a:prstGeom>
        </p:spPr>
        <p:txBody>
          <a:bodyPr vert="horz" lIns="95646" tIns="47823" rIns="95646" bIns="47823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1"/>
          </a:xfrm>
          <a:prstGeom prst="rect">
            <a:avLst/>
          </a:prstGeom>
        </p:spPr>
        <p:txBody>
          <a:bodyPr vert="horz" lIns="95646" tIns="47823" rIns="95646" bIns="4782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1"/>
          </a:xfrm>
          <a:prstGeom prst="rect">
            <a:avLst/>
          </a:prstGeom>
        </p:spPr>
        <p:txBody>
          <a:bodyPr vert="horz" lIns="95646" tIns="47823" rIns="95646" bIns="47823" rtlCol="0" anchor="b"/>
          <a:lstStyle>
            <a:lvl1pPr algn="r">
              <a:defRPr sz="1300"/>
            </a:lvl1pPr>
          </a:lstStyle>
          <a:p>
            <a:fld id="{77682825-CB27-4439-B919-408EBC76C2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4496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1"/>
          </a:xfrm>
          <a:prstGeom prst="rect">
            <a:avLst/>
          </a:prstGeom>
        </p:spPr>
        <p:txBody>
          <a:bodyPr vert="horz" lIns="95646" tIns="47823" rIns="95646" bIns="4782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1"/>
          </a:xfrm>
          <a:prstGeom prst="rect">
            <a:avLst/>
          </a:prstGeom>
        </p:spPr>
        <p:txBody>
          <a:bodyPr vert="horz" lIns="95646" tIns="47823" rIns="95646" bIns="47823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2313"/>
            <a:ext cx="4797425" cy="3597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646" tIns="47823" rIns="95646" bIns="478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1"/>
          </a:xfrm>
          <a:prstGeom prst="rect">
            <a:avLst/>
          </a:prstGeom>
        </p:spPr>
        <p:txBody>
          <a:bodyPr vert="horz" lIns="95646" tIns="47823" rIns="95646" bIns="478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1"/>
          </a:xfrm>
          <a:prstGeom prst="rect">
            <a:avLst/>
          </a:prstGeom>
        </p:spPr>
        <p:txBody>
          <a:bodyPr vert="horz" lIns="95646" tIns="47823" rIns="95646" bIns="4782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1"/>
          </a:xfrm>
          <a:prstGeom prst="rect">
            <a:avLst/>
          </a:prstGeom>
        </p:spPr>
        <p:txBody>
          <a:bodyPr vert="horz" lIns="95646" tIns="47823" rIns="95646" bIns="47823" rtlCol="0" anchor="b"/>
          <a:lstStyle>
            <a:lvl1pPr algn="r">
              <a:defRPr sz="1300"/>
            </a:lvl1pPr>
          </a:lstStyle>
          <a:p>
            <a:fld id="{5A1F48E1-058B-4963-8D55-C60E043110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9986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Dennis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894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671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53A0D-FB71-A3AD-23CE-3B99F7B2A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7255E-0B33-38D1-54C7-B78D0FD80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41B7E-9EBB-B0CC-5CD5-0C8047237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Patti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76D7B-83D8-D7C4-9E37-5655E38819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468B8-85A1-BBC2-4D21-E20AECA79A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15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49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2767DD-3043-43C0-8F7B-926248449BD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5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8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C16BE-D996-694C-B5AB-01BDC8536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7CBF4-B991-0AC6-9A57-B83BCE75A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B8BF1-81C3-B3FB-3C4D-65945208A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video… pause</a:t>
            </a:r>
            <a:r>
              <a:rPr lang="en-US" baseline="0" dirty="0"/>
              <a:t> before the results, and ask students what they would do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55DD8-BF83-49B2-7126-1055C79071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95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Patti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747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7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18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E7867-08B6-AB15-96AA-C1551DF96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98B27-6A88-23FB-1974-8A0142D93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8A612-AF70-C23F-6FDF-CD0C44759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060DA-494B-BF84-F32E-1B38B135B25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69F32-9233-96F0-E586-A752FBACB8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80B7-3392-D319-BC23-A2CE614D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B5C9E-E911-09A4-E0B2-4E451355C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A3C4B-D4BF-0E64-ABAE-83C14F1CD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1EBB0-7CE7-187C-15CD-F9F0BE1036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5DEAD-003C-BD57-22C9-FECA15B36B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464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AD688-C8FC-4A09-E2EF-72F62DAB7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8AD63-EC68-85FD-7F36-3581745A4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EBBB3-EC77-F9F6-8E93-03C5E6B70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32A0F-89D3-33C1-5E80-636D332F872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4E690-E622-4B4B-1B0A-EAB787CE28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464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1725" y="700088"/>
            <a:ext cx="4654550" cy="34909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3728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 Lock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250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 Lock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219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 Lock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003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 Lock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1F48E1-058B-4963-8D55-C60E043110E3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15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48FE-2D5A-45AB-95EB-9243473478A6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648FE-2D5A-45AB-95EB-9243473478A6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E9D69-0360-4691-8F93-E287426D2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rgbClr val="800000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spcAft>
          <a:spcPts val="180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mstat.org/education/guidelines-for-assessment-and-instruction-in-statistics-education-(gaise)-report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mstat.quarto.pub/college-gaise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image" Target="../media/image560.png"/><Relationship Id="rId4" Type="http://schemas.openxmlformats.org/officeDocument/2006/relationships/image" Target="../media/image5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image" Target="../media/image7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46.png"/><Relationship Id="rId5" Type="http://schemas.openxmlformats.org/officeDocument/2006/relationships/image" Target="../media/image57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hyperlink" Target="http://ssrn.com/abstract=1592456" TargetMode="External"/><Relationship Id="rId5" Type="http://schemas.openxmlformats.org/officeDocument/2006/relationships/image" Target="../media/image6.jpeg"/><Relationship Id="rId4" Type="http://schemas.openxmlformats.org/officeDocument/2006/relationships/hyperlink" Target="https://econ.video/2017/08/24/golden-balls-split-or-steal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jpeg"/><Relationship Id="rId18" Type="http://schemas.openxmlformats.org/officeDocument/2006/relationships/image" Target="../media/image36.jpeg"/><Relationship Id="rId26" Type="http://schemas.openxmlformats.org/officeDocument/2006/relationships/image" Target="../media/image41.jpeg"/><Relationship Id="rId3" Type="http://schemas.openxmlformats.org/officeDocument/2006/relationships/image" Target="../media/image22.jpeg"/><Relationship Id="rId21" Type="http://schemas.openxmlformats.org/officeDocument/2006/relationships/image" Target="../media/image12.jpeg"/><Relationship Id="rId34" Type="http://schemas.openxmlformats.org/officeDocument/2006/relationships/image" Target="../media/image50.png"/><Relationship Id="rId7" Type="http://schemas.openxmlformats.org/officeDocument/2006/relationships/image" Target="../media/image26.jpeg"/><Relationship Id="rId12" Type="http://schemas.openxmlformats.org/officeDocument/2006/relationships/image" Target="../media/image30.jpeg"/><Relationship Id="rId17" Type="http://schemas.openxmlformats.org/officeDocument/2006/relationships/image" Target="../media/image35.jpeg"/><Relationship Id="rId25" Type="http://schemas.openxmlformats.org/officeDocument/2006/relationships/image" Target="../media/image40.jpeg"/><Relationship Id="rId3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4.jpeg"/><Relationship Id="rId20" Type="http://schemas.openxmlformats.org/officeDocument/2006/relationships/image" Target="../media/image38.jpeg"/><Relationship Id="rId29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11" Type="http://schemas.openxmlformats.org/officeDocument/2006/relationships/image" Target="../media/image29.jpeg"/><Relationship Id="rId24" Type="http://schemas.openxmlformats.org/officeDocument/2006/relationships/image" Target="../media/image460.png"/><Relationship Id="rId32" Type="http://schemas.openxmlformats.org/officeDocument/2006/relationships/image" Target="../media/image48.png"/><Relationship Id="rId5" Type="http://schemas.openxmlformats.org/officeDocument/2006/relationships/image" Target="../media/image24.jpeg"/><Relationship Id="rId15" Type="http://schemas.openxmlformats.org/officeDocument/2006/relationships/image" Target="../media/image33.jpeg"/><Relationship Id="rId23" Type="http://schemas.openxmlformats.org/officeDocument/2006/relationships/image" Target="../media/image45.png"/><Relationship Id="rId28" Type="http://schemas.openxmlformats.org/officeDocument/2006/relationships/image" Target="../media/image43.jpeg"/><Relationship Id="rId10" Type="http://schemas.openxmlformats.org/officeDocument/2006/relationships/image" Target="../media/image28.jpeg"/><Relationship Id="rId19" Type="http://schemas.openxmlformats.org/officeDocument/2006/relationships/image" Target="../media/image37.jpeg"/><Relationship Id="rId31" Type="http://schemas.openxmlformats.org/officeDocument/2006/relationships/image" Target="../media/image47.png"/><Relationship Id="rId4" Type="http://schemas.openxmlformats.org/officeDocument/2006/relationships/image" Target="../media/image23.jpeg"/><Relationship Id="rId9" Type="http://schemas.openxmlformats.org/officeDocument/2006/relationships/image" Target="../media/image11.jpeg"/><Relationship Id="rId14" Type="http://schemas.openxmlformats.org/officeDocument/2006/relationships/image" Target="../media/image32.jpeg"/><Relationship Id="rId22" Type="http://schemas.openxmlformats.org/officeDocument/2006/relationships/image" Target="../media/image39.jpeg"/><Relationship Id="rId27" Type="http://schemas.openxmlformats.org/officeDocument/2006/relationships/image" Target="../media/image42.jpeg"/><Relationship Id="rId30" Type="http://schemas.openxmlformats.org/officeDocument/2006/relationships/image" Target="../media/image45.jpeg"/><Relationship Id="rId35" Type="http://schemas.openxmlformats.org/officeDocument/2006/relationships/image" Target="../media/image51.png"/><Relationship Id="rId8" Type="http://schemas.openxmlformats.org/officeDocument/2006/relationships/image" Target="../media/image27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3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1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411.5279" TargetMode="External"/><Relationship Id="rId2" Type="http://schemas.openxmlformats.org/officeDocument/2006/relationships/hyperlink" Target="ttps://amstat.tandfonline.com/doi/abs/10.1080/00031305.2015.1089789#.WwQ6X4pG1hE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6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hyperlink" Target="https://myslu.stlawu.edu/~rlock/DataSources.html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hyperlink" Target="https://dasl.datadescription.com/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hyperlink" Target="https://data.scorenetwork.org/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mailto:rlock@stlawu.edu" TargetMode="External"/><Relationship Id="rId2" Type="http://schemas.openxmlformats.org/officeDocument/2006/relationships/hyperlink" Target="mailto:plock@stlawu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28600"/>
            <a:ext cx="7543800" cy="3581400"/>
          </a:xfrm>
          <a:solidFill>
            <a:srgbClr val="FFFF99"/>
          </a:solidFill>
          <a:ln w="41275">
            <a:solidFill>
              <a:srgbClr val="C00000"/>
            </a:solidFill>
          </a:ln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GAISE Recommendations for Intro Stat : Improving Understanding and Success Rates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114800"/>
            <a:ext cx="8382000" cy="20574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Patti Frazer Lock, St. Lawrence University</a:t>
            </a:r>
          </a:p>
          <a:p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Robin Lock, St. Lawrence University</a:t>
            </a:r>
          </a:p>
          <a:p>
            <a:r>
              <a:rPr lang="en-US" sz="3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MathFest</a:t>
            </a:r>
            <a:r>
              <a:rPr lang="en-US" sz="3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74F6A-A87D-2FE1-115F-3428A9541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048000"/>
          </a:xfrm>
        </p:spPr>
        <p:txBody>
          <a:bodyPr>
            <a:normAutofit/>
          </a:bodyPr>
          <a:lstStyle/>
          <a:p>
            <a:r>
              <a:rPr lang="en-US" dirty="0"/>
              <a:t>GAISE</a:t>
            </a:r>
            <a:br>
              <a:rPr lang="en-US" dirty="0"/>
            </a:br>
            <a:r>
              <a:rPr lang="en-US" dirty="0"/>
              <a:t>Guidelines for Assessment and Instruction in Statistics Education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6F0C7-D22E-F6E5-2D70-73730A319886}"/>
              </a:ext>
            </a:extLst>
          </p:cNvPr>
          <p:cNvSpPr txBox="1"/>
          <p:nvPr/>
        </p:nvSpPr>
        <p:spPr>
          <a:xfrm>
            <a:off x="762000" y="3048000"/>
            <a:ext cx="77724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Two versions:</a:t>
            </a:r>
          </a:p>
          <a:p>
            <a:pPr>
              <a:spcAft>
                <a:spcPts val="1200"/>
              </a:spcAft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Pre-K-12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(NCTM - 2005) updated 2020</a:t>
            </a:r>
          </a:p>
          <a:p>
            <a:pPr>
              <a:spcAft>
                <a:spcPts val="1200"/>
              </a:spcAft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College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(ASA – 2005)   updated 2015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6790B-2C99-9A96-57D0-047F518B4EDC}"/>
              </a:ext>
            </a:extLst>
          </p:cNvPr>
          <p:cNvSpPr txBox="1"/>
          <p:nvPr/>
        </p:nvSpPr>
        <p:spPr>
          <a:xfrm>
            <a:off x="1066800" y="5181600"/>
            <a:ext cx="746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https://www.amstat.org/education/guidelines-for-assessment-and-instruction-in-statistics-education-(gaise)-reports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063127C-7371-EC4B-92F5-1873C2B15D41}"/>
              </a:ext>
            </a:extLst>
          </p:cNvPr>
          <p:cNvSpPr/>
          <p:nvPr/>
        </p:nvSpPr>
        <p:spPr>
          <a:xfrm>
            <a:off x="533400" y="4191000"/>
            <a:ext cx="7772400" cy="990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1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88F22-40E8-E539-EC39-6C75F7261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Update to GAISE College Report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0DC7D4-5A0D-5A06-8BA6-34612C883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914400"/>
            <a:ext cx="5791200" cy="1584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E02DF6-A6CE-1467-A05C-0CC6FBAF0A7A}"/>
              </a:ext>
            </a:extLst>
          </p:cNvPr>
          <p:cNvSpPr txBox="1"/>
          <p:nvPr/>
        </p:nvSpPr>
        <p:spPr>
          <a:xfrm>
            <a:off x="1447800" y="2496026"/>
            <a:ext cx="662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https://amstat.quarto.pub/college-gaise/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EA7C1C-0351-DB2F-3133-1475E51DEE4D}"/>
              </a:ext>
            </a:extLst>
          </p:cNvPr>
          <p:cNvSpPr txBox="1"/>
          <p:nvPr/>
        </p:nvSpPr>
        <p:spPr>
          <a:xfrm>
            <a:off x="685800" y="3200400"/>
            <a:ext cx="8001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Steering Committee</a:t>
            </a:r>
            <a:r>
              <a:rPr lang="en-US" sz="2800" dirty="0"/>
              <a:t>:</a:t>
            </a:r>
          </a:p>
          <a:p>
            <a:r>
              <a:rPr lang="en-US" sz="2000" dirty="0"/>
              <a:t>	</a:t>
            </a:r>
            <a:r>
              <a:rPr lang="en-US" sz="2400" dirty="0"/>
              <a:t>Patti Frazer Lock, St. Lawrence University (co-chair)</a:t>
            </a:r>
          </a:p>
          <a:p>
            <a:r>
              <a:rPr lang="en-US" sz="2400" dirty="0"/>
              <a:t>	Jamie Perrett, Brigham Young University (co-chair)</a:t>
            </a:r>
          </a:p>
          <a:p>
            <a:r>
              <a:rPr lang="en-US" sz="2400" dirty="0"/>
              <a:t>	David Hunter, Penn State University</a:t>
            </a:r>
          </a:p>
          <a:p>
            <a:r>
              <a:rPr lang="en-US" sz="2400" dirty="0"/>
              <a:t>	Lisa Kay, Eastern Kentucky University</a:t>
            </a:r>
          </a:p>
          <a:p>
            <a:r>
              <a:rPr lang="en-US" sz="2400" dirty="0"/>
              <a:t>	Kate Kozak, Coconino Community College</a:t>
            </a:r>
          </a:p>
          <a:p>
            <a:r>
              <a:rPr lang="en-US" sz="2400" dirty="0"/>
              <a:t>	Chris Malone, Winona State University</a:t>
            </a:r>
          </a:p>
          <a:p>
            <a:r>
              <a:rPr lang="en-US" sz="2400" dirty="0"/>
              <a:t>	Maria Tackett, Duke University</a:t>
            </a:r>
          </a:p>
          <a:p>
            <a:r>
              <a:rPr lang="en-US" sz="2400" dirty="0"/>
              <a:t>	Donna Lalonde, ASA Liaison</a:t>
            </a:r>
          </a:p>
        </p:txBody>
      </p:sp>
    </p:spTree>
    <p:extLst>
      <p:ext uri="{BB962C8B-B14F-4D97-AF65-F5344CB8AC3E}">
        <p14:creationId xmlns:p14="http://schemas.microsoft.com/office/powerpoint/2010/main" val="352298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58180-B762-6206-D387-A35B7631E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GAISE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DD505-259C-79EE-F053-C28E47FDE2C2}"/>
              </a:ext>
            </a:extLst>
          </p:cNvPr>
          <p:cNvSpPr txBox="1"/>
          <p:nvPr/>
        </p:nvSpPr>
        <p:spPr>
          <a:xfrm>
            <a:off x="152400" y="1143000"/>
            <a:ext cx="883920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u="sng" dirty="0"/>
              <a:t>Recommendations for Statistics and Data Science</a:t>
            </a:r>
            <a:r>
              <a:rPr lang="en-US" sz="2400" dirty="0"/>
              <a:t>      </a:t>
            </a:r>
          </a:p>
          <a:p>
            <a:pPr marL="342900" lvl="0" indent="-34290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Teach statistics and data science as iterative processes of gleaning insights from data to inform evidence-based decisions.</a:t>
            </a:r>
          </a:p>
          <a:p>
            <a:pPr marL="342900" lvl="0" indent="-34290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Emphasize effective written and oral communication of results from data, with attention to the scope and limitations of conclusions. </a:t>
            </a:r>
          </a:p>
          <a:p>
            <a:pPr marL="342900" lvl="0" indent="-34290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Focus on conceptual understanding rather than algebraic manipulation and formulas.</a:t>
            </a:r>
          </a:p>
          <a:p>
            <a:pPr marL="342900" lvl="0" indent="-34290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Integrate real data with a context and purpose throughout the course.  Select data that are meaningful and engaging to the students.  </a:t>
            </a:r>
          </a:p>
          <a:p>
            <a:pPr marL="342900" lvl="0" indent="-34290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Encourage multivariable thinking.   </a:t>
            </a:r>
          </a:p>
        </p:txBody>
      </p:sp>
    </p:spTree>
    <p:extLst>
      <p:ext uri="{BB962C8B-B14F-4D97-AF65-F5344CB8AC3E}">
        <p14:creationId xmlns:p14="http://schemas.microsoft.com/office/powerpoint/2010/main" val="8368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4C1FE-C8B0-344E-B17A-E950F9B47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2C73A-C3BD-E9DD-C9D2-FDE153C26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GAISE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8A27A7-D449-AF36-4B49-15CDB2BAD6F2}"/>
              </a:ext>
            </a:extLst>
          </p:cNvPr>
          <p:cNvSpPr txBox="1"/>
          <p:nvPr/>
        </p:nvSpPr>
        <p:spPr>
          <a:xfrm>
            <a:off x="152400" y="1143000"/>
            <a:ext cx="8839200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u="sng" dirty="0"/>
              <a:t>Recommendations for Statistics and Data Science</a:t>
            </a:r>
            <a:r>
              <a:rPr lang="en-US" sz="2400" dirty="0"/>
              <a:t>      </a:t>
            </a:r>
          </a:p>
          <a:p>
            <a:pPr marL="457200" lvl="0" indent="-457200" fontAlgn="base">
              <a:spcAft>
                <a:spcPts val="1200"/>
              </a:spcAft>
              <a:buFont typeface="+mj-lt"/>
              <a:buAutoNum type="arabicPeriod" startAt="6"/>
            </a:pPr>
            <a:r>
              <a:rPr lang="en-US" sz="2400" dirty="0"/>
              <a:t>Incorporate software/apps to explore concepts and work with data.</a:t>
            </a:r>
          </a:p>
          <a:p>
            <a:pPr marL="457200" lvl="0" indent="-457200" fontAlgn="base">
              <a:spcAft>
                <a:spcPts val="1200"/>
              </a:spcAft>
              <a:buFont typeface="+mj-lt"/>
              <a:buAutoNum type="arabicPeriod" startAt="6"/>
            </a:pPr>
            <a:r>
              <a:rPr lang="en-US" sz="2400" dirty="0"/>
              <a:t>Emphasize responsible and ethical conduct in the collection and use of data and in their analysis.</a:t>
            </a:r>
          </a:p>
          <a:p>
            <a:pPr marL="457200" lvl="0" indent="-457200" fontAlgn="base">
              <a:spcAft>
                <a:spcPts val="1200"/>
              </a:spcAft>
              <a:buFont typeface="+mj-lt"/>
              <a:buAutoNum type="arabicPeriod" startAt="6"/>
            </a:pPr>
            <a:r>
              <a:rPr lang="en-US" sz="2400" dirty="0"/>
              <a:t>Employ evidence-based pedagogies that actively engage students in the learning process.</a:t>
            </a:r>
          </a:p>
          <a:p>
            <a:pPr marL="457200" lvl="0" indent="-457200" fontAlgn="base">
              <a:spcAft>
                <a:spcPts val="1200"/>
              </a:spcAft>
              <a:buFont typeface="+mj-lt"/>
              <a:buAutoNum type="arabicPeriod" startAt="6"/>
            </a:pPr>
            <a:r>
              <a:rPr lang="en-US" sz="2400" dirty="0"/>
              <a:t>Use a variety of formative and summative assessments to improve teaching and learning.</a:t>
            </a:r>
          </a:p>
          <a:p>
            <a:pPr marL="457200" lvl="0" indent="-457200" fontAlgn="base">
              <a:spcAft>
                <a:spcPts val="1200"/>
              </a:spcAft>
              <a:buFont typeface="+mj-lt"/>
              <a:buAutoNum type="arabicPeriod" startAt="6"/>
            </a:pPr>
            <a:r>
              <a:rPr lang="en-US" sz="2400" dirty="0"/>
              <a:t>Implement a course design that uses inclusive strategies to foster a sense of belonging. </a:t>
            </a:r>
          </a:p>
        </p:txBody>
      </p:sp>
    </p:spTree>
    <p:extLst>
      <p:ext uri="{BB962C8B-B14F-4D97-AF65-F5344CB8AC3E}">
        <p14:creationId xmlns:p14="http://schemas.microsoft.com/office/powerpoint/2010/main" val="3244914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5B0DC-8F68-08A9-1CFC-8EC6F1842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055CE-A150-3044-3BA6-45DBFA80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GAISE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31E0A-B65F-2710-D50B-0EADF7FC4FE2}"/>
              </a:ext>
            </a:extLst>
          </p:cNvPr>
          <p:cNvSpPr txBox="1"/>
          <p:nvPr/>
        </p:nvSpPr>
        <p:spPr>
          <a:xfrm>
            <a:off x="152400" y="1143000"/>
            <a:ext cx="883920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u="sng" dirty="0"/>
              <a:t>Recommendations for Statistics and Data Science</a:t>
            </a:r>
            <a:r>
              <a:rPr lang="en-US" sz="2400" dirty="0"/>
              <a:t>      </a:t>
            </a:r>
          </a:p>
          <a:p>
            <a:pPr marL="342900" lvl="0" indent="-34290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Teach statistics and data science as iterative processes of gleaning insights from data to inform evidence-based decisions.</a:t>
            </a:r>
          </a:p>
          <a:p>
            <a:pPr marL="342900" lvl="0" indent="-34290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Emphasize effective written and oral communication of results from data, with attention to the scope and limitations of conclusions. </a:t>
            </a:r>
          </a:p>
          <a:p>
            <a:pPr marL="342900" lvl="0" indent="-34290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Focus on conceptual understanding rather than algebraic manipulation and formulas.</a:t>
            </a:r>
          </a:p>
          <a:p>
            <a:pPr marL="342900" lvl="0" indent="-34290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Integrate real data with a context and purpose throughout the course.  Select data that are meaningful and engaging to the students.  </a:t>
            </a:r>
          </a:p>
          <a:p>
            <a:pPr marL="342900" lvl="0" indent="-34290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2400" dirty="0"/>
              <a:t>Encourage multivariable thinking.  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24E813-76ED-3C24-2623-5552D49E59AA}"/>
              </a:ext>
            </a:extLst>
          </p:cNvPr>
          <p:cNvSpPr/>
          <p:nvPr/>
        </p:nvSpPr>
        <p:spPr>
          <a:xfrm>
            <a:off x="152400" y="3657600"/>
            <a:ext cx="8763000" cy="22098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CD14CC-CCEB-5A4E-3942-E0A7C8E08A84}"/>
              </a:ext>
            </a:extLst>
          </p:cNvPr>
          <p:cNvSpPr txBox="1"/>
          <p:nvPr/>
        </p:nvSpPr>
        <p:spPr>
          <a:xfrm>
            <a:off x="5943600" y="4114800"/>
            <a:ext cx="236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TODAY</a:t>
            </a:r>
          </a:p>
        </p:txBody>
      </p:sp>
    </p:spTree>
    <p:extLst>
      <p:ext uri="{BB962C8B-B14F-4D97-AF65-F5344CB8AC3E}">
        <p14:creationId xmlns:p14="http://schemas.microsoft.com/office/powerpoint/2010/main" val="222552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09BCC-592A-16EA-3F01-E8A964596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304800"/>
            <a:ext cx="8991600" cy="1143000"/>
          </a:xfrm>
          <a:solidFill>
            <a:srgbClr val="FFFF99"/>
          </a:solidFill>
        </p:spPr>
        <p:txBody>
          <a:bodyPr>
            <a:noAutofit/>
          </a:bodyPr>
          <a:lstStyle/>
          <a:p>
            <a:r>
              <a:rPr lang="en-US" sz="3200" dirty="0"/>
              <a:t>3. Focus on conceptual understanding rather than algebraic manipulation and formulas.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5DC846-0891-77C5-47CF-F7FE72E892E4}"/>
              </a:ext>
            </a:extLst>
          </p:cNvPr>
          <p:cNvSpPr txBox="1"/>
          <p:nvPr/>
        </p:nvSpPr>
        <p:spPr>
          <a:xfrm>
            <a:off x="533400" y="2133600"/>
            <a:ext cx="83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Simulation-Based Inference (SBI)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DD978A-C536-6D84-A5D2-AA7F5D48D062}"/>
              </a:ext>
            </a:extLst>
          </p:cNvPr>
          <p:cNvSpPr txBox="1"/>
          <p:nvPr/>
        </p:nvSpPr>
        <p:spPr>
          <a:xfrm>
            <a:off x="609600" y="3124200"/>
            <a:ext cx="8077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Focus on key ideas of statistical inference, e.g.,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Use a p-value as evidence for a test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Construct a confidence interval for a parameter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Early in a course with minimal formulas, few distributional prerequisites, very little algebra, but lots of applicability to many situations.  </a:t>
            </a:r>
          </a:p>
        </p:txBody>
      </p:sp>
    </p:spTree>
    <p:extLst>
      <p:ext uri="{BB962C8B-B14F-4D97-AF65-F5344CB8AC3E}">
        <p14:creationId xmlns:p14="http://schemas.microsoft.com/office/powerpoint/2010/main" val="421371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971252"/>
            <a:ext cx="8534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C00000"/>
                </a:solidFill>
                <a:latin typeface="Cambria" pitchFamily="18" charset="0"/>
                <a:cs typeface="Times New Roman" pitchFamily="18" charset="0"/>
              </a:rPr>
              <a:t>Question</a:t>
            </a:r>
            <a:r>
              <a:rPr lang="en-US" sz="3200" b="1" dirty="0">
                <a:solidFill>
                  <a:srgbClr val="C00000"/>
                </a:solidFill>
                <a:latin typeface="Cambria" pitchFamily="18" charset="0"/>
                <a:cs typeface="Times New Roman" pitchFamily="18" charset="0"/>
              </a:rPr>
              <a:t>:  Does consuming beer attract mosquitoes?</a:t>
            </a:r>
            <a:r>
              <a:rPr lang="en-US" sz="32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 </a:t>
            </a:r>
            <a:endParaRPr lang="en-US" sz="1600" baseline="30000" dirty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154972"/>
            <a:ext cx="82296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Experiment</a:t>
            </a:r>
            <a:r>
              <a:rPr lang="en-US" sz="28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: </a:t>
            </a:r>
          </a:p>
          <a:p>
            <a:r>
              <a:rPr lang="en-US" sz="28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25 volunteers drank a liter of beer,</a:t>
            </a:r>
          </a:p>
          <a:p>
            <a:r>
              <a:rPr lang="en-US" sz="28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18 volunteers drank a liter of water</a:t>
            </a:r>
          </a:p>
          <a:p>
            <a:r>
              <a:rPr lang="en-US" sz="28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Randomly assigned!</a:t>
            </a:r>
          </a:p>
          <a:p>
            <a:r>
              <a:rPr lang="en-US" sz="28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Mosquitoes were caught in traps as they approached the volunteers.</a:t>
            </a:r>
            <a:r>
              <a:rPr lang="en-US" sz="2400" baseline="300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1</a:t>
            </a:r>
            <a:r>
              <a:rPr lang="en-US" sz="24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 </a:t>
            </a:r>
          </a:p>
          <a:p>
            <a:endParaRPr lang="en-US" sz="2800" dirty="0">
              <a:solidFill>
                <a:prstClr val="black"/>
              </a:solidFill>
              <a:latin typeface="Cambria" pitchFamily="18" charset="0"/>
              <a:cs typeface="Times New Roman" pitchFamily="18" charset="0"/>
            </a:endParaRPr>
          </a:p>
          <a:p>
            <a:endParaRPr lang="en-US" sz="2800" dirty="0">
              <a:solidFill>
                <a:prstClr val="black"/>
              </a:solidFill>
              <a:latin typeface="Cambria" pitchFamily="18" charset="0"/>
              <a:cs typeface="Times New Roman" pitchFamily="18" charset="0"/>
            </a:endParaRPr>
          </a:p>
          <a:p>
            <a:r>
              <a:rPr lang="en-US" baseline="30000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Lefvre</a:t>
            </a:r>
            <a:r>
              <a:rPr lang="en-US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, T., et. al.,  “Beer Consumption Increases Human Attractiveness to Malaria Mosquitoes, ” </a:t>
            </a:r>
            <a:r>
              <a:rPr lang="en-US" i="1" dirty="0" err="1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PLoS</a:t>
            </a:r>
            <a:r>
              <a:rPr lang="en-US" i="1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 ONE, </a:t>
            </a:r>
            <a:r>
              <a:rPr lang="en-US" dirty="0">
                <a:solidFill>
                  <a:prstClr val="black"/>
                </a:solidFill>
                <a:latin typeface="Cambria" pitchFamily="18" charset="0"/>
                <a:cs typeface="Times New Roman" pitchFamily="18" charset="0"/>
              </a:rPr>
              <a:t>2010; 5(3): e9546.</a:t>
            </a:r>
            <a:endParaRPr lang="en-US" sz="1600" baseline="30000" dirty="0">
              <a:solidFill>
                <a:prstClr val="black"/>
              </a:solidFill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34685" y="228600"/>
            <a:ext cx="8001000" cy="715962"/>
          </a:xfrm>
          <a:prstGeom prst="rect">
            <a:avLst/>
          </a:prstGeom>
          <a:solidFill>
            <a:srgbClr val="FFFF99"/>
          </a:solidFill>
          <a:ln w="28575">
            <a:solidFill>
              <a:srgbClr val="C00000"/>
            </a:solidFill>
          </a:ln>
        </p:spPr>
        <p:txBody>
          <a:bodyPr>
            <a:normAutofit fontScale="975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600" b="1" kern="1200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dirty="0">
                <a:solidFill>
                  <a:srgbClr val="C00000"/>
                </a:solidFill>
              </a:rPr>
              <a:t>Example #1: Beer &amp; Mosquitoes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522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57200" y="381000"/>
            <a:ext cx="8153400" cy="1219200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en-US" sz="4000" b="1" dirty="0">
                <a:solidFill>
                  <a:srgbClr val="68007F">
                    <a:lumMod val="75000"/>
                  </a:srgbClr>
                </a:solidFill>
                <a:latin typeface="Cambria" pitchFamily="18" charset="0"/>
              </a:rPr>
              <a:t>Beer and Mosquitoes</a:t>
            </a:r>
            <a:endParaRPr lang="en-US" sz="3600" b="1" dirty="0">
              <a:solidFill>
                <a:srgbClr val="68007F">
                  <a:lumMod val="75000"/>
                </a:srgbClr>
              </a:solidFill>
              <a:latin typeface="Cambria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71838" y="1547696"/>
            <a:ext cx="19954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mbria" pitchFamily="18" charset="0"/>
              </a:rPr>
              <a:t>Beer mean =  23.6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2200" y="1590560"/>
            <a:ext cx="213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ambria" pitchFamily="18" charset="0"/>
              </a:rPr>
              <a:t>Water mean </a:t>
            </a:r>
          </a:p>
          <a:p>
            <a:r>
              <a:rPr lang="en-US" sz="2800" dirty="0">
                <a:solidFill>
                  <a:prstClr val="black"/>
                </a:solidFill>
                <a:latin typeface="Cambria" pitchFamily="18" charset="0"/>
              </a:rPr>
              <a:t>=  19.22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4663" y="2752616"/>
            <a:ext cx="5595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  <a:latin typeface="Cambria" pitchFamily="18" charset="0"/>
              </a:rPr>
              <a:t>Beer mean – Water mean = 4.38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71838" y="3469216"/>
            <a:ext cx="5057775" cy="20621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</a:rPr>
              <a:t>On average, the beer drinkers attracted 4.38 more mosquitoes than the water drinkers.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5841" y="1472466"/>
            <a:ext cx="914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prstClr val="black"/>
                </a:solidFill>
                <a:latin typeface="Calibri"/>
              </a:rPr>
              <a:t>Water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21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22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15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12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21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16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19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15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24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19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23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13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22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20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24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18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20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22      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493" y="1447799"/>
            <a:ext cx="107538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   </a:t>
            </a:r>
            <a:r>
              <a:rPr lang="en-US" u="sng" dirty="0">
                <a:solidFill>
                  <a:prstClr val="black"/>
                </a:solidFill>
                <a:latin typeface="Calibri"/>
              </a:rPr>
              <a:t>Beer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r>
              <a:rPr lang="en-US" sz="1400" dirty="0">
                <a:solidFill>
                  <a:prstClr val="black"/>
                </a:solidFill>
                <a:latin typeface="Calibri"/>
              </a:rPr>
              <a:t>     </a:t>
            </a:r>
            <a:r>
              <a:rPr lang="en-US" sz="1200" dirty="0">
                <a:solidFill>
                  <a:prstClr val="black"/>
                </a:solidFill>
                <a:latin typeface="Calibri"/>
              </a:rPr>
              <a:t>27   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20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21  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26  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27  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31      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24   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19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23  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24  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28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19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24 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29 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20 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17 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31 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20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25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28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21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27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21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18</a:t>
            </a:r>
          </a:p>
          <a:p>
            <a:r>
              <a:rPr lang="en-US" sz="1200" dirty="0">
                <a:solidFill>
                  <a:prstClr val="black"/>
                </a:solidFill>
                <a:latin typeface="Calibri"/>
              </a:rPr>
              <a:t>      20         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094601"/>
            <a:ext cx="2803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Number of Mosquitoes</a:t>
            </a:r>
          </a:p>
          <a:p>
            <a:endParaRPr lang="en-US" sz="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95400" y="5694402"/>
            <a:ext cx="7467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</a:rPr>
              <a:t>Is this a “significant” difference?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679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2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990600"/>
            <a:ext cx="3369585" cy="5702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498501" y="1472466"/>
            <a:ext cx="914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prstClr val="black"/>
                </a:solidFill>
              </a:rPr>
              <a:t>Water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21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22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15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12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21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16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19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15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24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19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23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13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22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24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18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22        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447799"/>
            <a:ext cx="107538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   </a:t>
            </a:r>
            <a:r>
              <a:rPr lang="en-US" u="sng" dirty="0">
                <a:solidFill>
                  <a:prstClr val="black"/>
                </a:solidFill>
              </a:rPr>
              <a:t>Beer</a:t>
            </a:r>
            <a:r>
              <a:rPr lang="en-US" sz="140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dirty="0">
                <a:solidFill>
                  <a:prstClr val="black"/>
                </a:solidFill>
              </a:rPr>
              <a:t>     </a:t>
            </a:r>
            <a:r>
              <a:rPr lang="en-US" sz="1200" dirty="0">
                <a:solidFill>
                  <a:prstClr val="black"/>
                </a:solidFill>
              </a:rPr>
              <a:t>27 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21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26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27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31    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24 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19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23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24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28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19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24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29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20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17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31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25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28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21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27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21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18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20      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094601"/>
            <a:ext cx="2803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Number of Mosquitoes</a:t>
            </a:r>
          </a:p>
          <a:p>
            <a:endParaRPr lang="en-US" sz="6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06210" y="2710606"/>
            <a:ext cx="4563627" cy="1384995"/>
          </a:xfrm>
          <a:prstGeom prst="rect">
            <a:avLst/>
          </a:prstGeom>
          <a:solidFill>
            <a:srgbClr val="FFFF99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prstClr val="black"/>
                </a:solidFill>
                <a:latin typeface="Cambria" pitchFamily="18" charset="0"/>
              </a:rPr>
              <a:t>What might happen just by </a:t>
            </a:r>
            <a:r>
              <a:rPr lang="en-US" sz="2800" i="1">
                <a:solidFill>
                  <a:prstClr val="black"/>
                </a:solidFill>
                <a:latin typeface="Cambria" pitchFamily="18" charset="0"/>
              </a:rPr>
              <a:t>random chance, if there is no difference??</a:t>
            </a:r>
            <a:endParaRPr lang="en-US" sz="2800" i="1" dirty="0">
              <a:solidFill>
                <a:prstClr val="black"/>
              </a:solidFill>
              <a:latin typeface="Cambria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86577" y="1108174"/>
            <a:ext cx="54903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Two possible explanations: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Beer attracts mosquitos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 difference; random chance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8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Randomization Approach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584448" y="4343400"/>
            <a:ext cx="5559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µ = mean number of attracted mosquitoes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3853" y="4760893"/>
            <a:ext cx="1944147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mbria" pitchFamily="18" charset="0"/>
              </a:rPr>
              <a:t>H</a:t>
            </a:r>
            <a:r>
              <a:rPr lang="en-US" sz="2800" baseline="-25000" dirty="0">
                <a:latin typeface="Cambria" pitchFamily="18" charset="0"/>
              </a:rPr>
              <a:t>0</a:t>
            </a:r>
            <a:r>
              <a:rPr lang="en-US" sz="2800" dirty="0">
                <a:latin typeface="Cambria" pitchFamily="18" charset="0"/>
              </a:rPr>
              <a:t>: </a:t>
            </a:r>
            <a:r>
              <a:rPr lang="el-GR" sz="2800" dirty="0">
                <a:latin typeface="Cambria" pitchFamily="18" charset="0"/>
              </a:rPr>
              <a:t>μ</a:t>
            </a:r>
            <a:r>
              <a:rPr lang="en-US" sz="2800" baseline="-25000" dirty="0">
                <a:latin typeface="Cambria" pitchFamily="18" charset="0"/>
              </a:rPr>
              <a:t>B</a:t>
            </a:r>
            <a:r>
              <a:rPr lang="en-US" sz="2800" dirty="0">
                <a:latin typeface="Cambria" pitchFamily="18" charset="0"/>
              </a:rPr>
              <a:t> = </a:t>
            </a:r>
            <a:r>
              <a:rPr lang="el-GR" sz="2800" dirty="0">
                <a:latin typeface="Cambria" pitchFamily="18" charset="0"/>
              </a:rPr>
              <a:t>μ</a:t>
            </a:r>
            <a:r>
              <a:rPr lang="en-US" sz="2800" baseline="-25000" dirty="0">
                <a:latin typeface="Cambria" pitchFamily="18" charset="0"/>
              </a:rPr>
              <a:t>W</a:t>
            </a:r>
            <a:endParaRPr lang="en-US" sz="2800" dirty="0">
              <a:latin typeface="Cambria" pitchFamily="18" charset="0"/>
            </a:endParaRPr>
          </a:p>
          <a:p>
            <a:r>
              <a:rPr lang="en-US" sz="2800" dirty="0">
                <a:latin typeface="Cambria" pitchFamily="18" charset="0"/>
              </a:rPr>
              <a:t>H</a:t>
            </a:r>
            <a:r>
              <a:rPr lang="en-US" sz="2800" baseline="-25000" dirty="0">
                <a:latin typeface="Cambria" pitchFamily="18" charset="0"/>
              </a:rPr>
              <a:t>a</a:t>
            </a:r>
            <a:r>
              <a:rPr lang="en-US" sz="2800" dirty="0">
                <a:latin typeface="Cambria" pitchFamily="18" charset="0"/>
              </a:rPr>
              <a:t>: </a:t>
            </a:r>
            <a:r>
              <a:rPr lang="el-GR" sz="2800" dirty="0">
                <a:latin typeface="Cambria" pitchFamily="18" charset="0"/>
              </a:rPr>
              <a:t>μ</a:t>
            </a:r>
            <a:r>
              <a:rPr lang="en-US" sz="2800" baseline="-25000" dirty="0">
                <a:latin typeface="Cambria" pitchFamily="18" charset="0"/>
              </a:rPr>
              <a:t>B</a:t>
            </a:r>
            <a:r>
              <a:rPr lang="en-US" sz="2800" dirty="0">
                <a:latin typeface="Cambria" pitchFamily="18" charset="0"/>
              </a:rPr>
              <a:t> &gt; </a:t>
            </a:r>
            <a:r>
              <a:rPr lang="el-GR" sz="2800" dirty="0">
                <a:latin typeface="Cambria" pitchFamily="18" charset="0"/>
              </a:rPr>
              <a:t>μ</a:t>
            </a:r>
            <a:r>
              <a:rPr lang="en-US" sz="2800" baseline="-25000" dirty="0">
                <a:latin typeface="Cambria" pitchFamily="18" charset="0"/>
              </a:rPr>
              <a:t>W</a:t>
            </a:r>
            <a:endParaRPr lang="en-US" sz="2800" dirty="0">
              <a:latin typeface="Cambria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657600" y="5715000"/>
                <a:ext cx="50292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Based on the sample data: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𝑊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=23.60−19.22=4.38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5715000"/>
                <a:ext cx="5029200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1818"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8058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" grpId="0" build="p"/>
      <p:bldP spid="18" grpId="0"/>
      <p:bldP spid="19" grpId="0" animBg="1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2" y="990600"/>
            <a:ext cx="3369585" cy="5702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34177" y="5150888"/>
                <a:ext cx="19908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/>
                      </a:rPr>
                      <m:t>=23.6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Cambria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177" y="5150888"/>
                <a:ext cx="1990860" cy="523220"/>
              </a:xfrm>
              <a:prstGeom prst="rect">
                <a:avLst/>
              </a:prstGeom>
              <a:blipFill rotWithShape="1">
                <a:blip r:embed="rId3"/>
                <a:stretch>
                  <a:fillRect t="-11628" r="-1227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2498501" y="1472466"/>
            <a:ext cx="914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prstClr val="black"/>
                </a:solidFill>
              </a:rPr>
              <a:t>Water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21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22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15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12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21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16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19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15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24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19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23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13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22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24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18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22        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447799"/>
            <a:ext cx="107538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   </a:t>
            </a:r>
            <a:r>
              <a:rPr lang="en-US" u="sng" dirty="0">
                <a:solidFill>
                  <a:prstClr val="black"/>
                </a:solidFill>
              </a:rPr>
              <a:t>Beer</a:t>
            </a:r>
            <a:r>
              <a:rPr lang="en-US" sz="140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dirty="0">
                <a:solidFill>
                  <a:prstClr val="black"/>
                </a:solidFill>
              </a:rPr>
              <a:t>     </a:t>
            </a:r>
            <a:r>
              <a:rPr lang="en-US" sz="1200" dirty="0">
                <a:solidFill>
                  <a:prstClr val="black"/>
                </a:solidFill>
              </a:rPr>
              <a:t>27 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21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26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27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31    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24 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19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23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24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28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19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24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29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20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17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31 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25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28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21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27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21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18</a:t>
            </a:r>
          </a:p>
          <a:p>
            <a:r>
              <a:rPr lang="en-US" sz="1200" dirty="0">
                <a:solidFill>
                  <a:prstClr val="black"/>
                </a:solidFill>
              </a:rPr>
              <a:t>      20      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094601"/>
            <a:ext cx="2803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Number of Mosquitoes</a:t>
            </a:r>
          </a:p>
          <a:p>
            <a:endParaRPr lang="en-US" sz="6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67400" y="5123679"/>
                <a:ext cx="22205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𝑊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=19.22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5123679"/>
                <a:ext cx="2220532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300210" y="5764953"/>
                <a:ext cx="509681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𝑊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=4.38</m:t>
                      </m:r>
                    </m:oMath>
                  </m:oMathPara>
                </a14:m>
                <a:endParaRPr lang="en-US" sz="2800" b="0" dirty="0">
                  <a:solidFill>
                    <a:prstClr val="black"/>
                  </a:solidFill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210" y="5764953"/>
                <a:ext cx="5096815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681984" y="1197417"/>
            <a:ext cx="5038344" cy="2246769"/>
          </a:xfrm>
          <a:prstGeom prst="rect">
            <a:avLst/>
          </a:prstGeom>
          <a:solidFill>
            <a:srgbClr val="FFFF99"/>
          </a:solidFill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prstClr val="black"/>
                </a:solidFill>
                <a:latin typeface="Cambria" pitchFamily="18" charset="0"/>
              </a:rPr>
              <a:t>To simulate samples under H</a:t>
            </a:r>
            <a:r>
              <a:rPr lang="en-US" sz="2800" i="1" baseline="-25000" dirty="0">
                <a:solidFill>
                  <a:prstClr val="black"/>
                </a:solidFill>
                <a:latin typeface="Cambria" pitchFamily="18" charset="0"/>
              </a:rPr>
              <a:t>0</a:t>
            </a:r>
            <a:r>
              <a:rPr lang="en-US" sz="2800" i="1" dirty="0">
                <a:solidFill>
                  <a:prstClr val="black"/>
                </a:solidFill>
                <a:latin typeface="Cambria" pitchFamily="18" charset="0"/>
              </a:rPr>
              <a:t> (no difference):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prstClr val="black"/>
                </a:solidFill>
                <a:latin typeface="Cambria" pitchFamily="18" charset="0"/>
              </a:rPr>
              <a:t>Re-randomize the values into Beer &amp; Water groups </a:t>
            </a:r>
          </a:p>
          <a:p>
            <a:endParaRPr lang="en-US" sz="2800" i="1" dirty="0">
              <a:solidFill>
                <a:prstClr val="black"/>
              </a:solidFill>
              <a:latin typeface="Cambria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55979" y="1801962"/>
            <a:ext cx="118681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27   19   21   24  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20   24   18   19</a:t>
            </a:r>
          </a:p>
          <a:p>
            <a:r>
              <a:rPr lang="en-US" sz="1200" dirty="0">
                <a:solidFill>
                  <a:prstClr val="black"/>
                </a:solidFill>
              </a:rPr>
              <a:t>21   29   20   23</a:t>
            </a:r>
          </a:p>
          <a:p>
            <a:r>
              <a:rPr lang="en-US" sz="1200" dirty="0">
                <a:solidFill>
                  <a:prstClr val="black"/>
                </a:solidFill>
              </a:rPr>
              <a:t>26   20   21   13</a:t>
            </a:r>
          </a:p>
          <a:p>
            <a:r>
              <a:rPr lang="en-US" sz="1200" dirty="0">
                <a:solidFill>
                  <a:prstClr val="black"/>
                </a:solidFill>
              </a:rPr>
              <a:t>27   27   22   22</a:t>
            </a:r>
          </a:p>
          <a:p>
            <a:r>
              <a:rPr lang="en-US" sz="1200" dirty="0">
                <a:solidFill>
                  <a:prstClr val="black"/>
                </a:solidFill>
              </a:rPr>
              <a:t>31   31   15   20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24   20   12   24</a:t>
            </a:r>
          </a:p>
          <a:p>
            <a:r>
              <a:rPr lang="en-US" sz="1200" dirty="0">
                <a:solidFill>
                  <a:prstClr val="black"/>
                </a:solidFill>
              </a:rPr>
              <a:t>19   25   21   18</a:t>
            </a:r>
          </a:p>
          <a:p>
            <a:r>
              <a:rPr lang="en-US" sz="1200" dirty="0">
                <a:solidFill>
                  <a:prstClr val="black"/>
                </a:solidFill>
              </a:rPr>
              <a:t>23   28   16   20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24   21   19   22</a:t>
            </a:r>
          </a:p>
          <a:p>
            <a:r>
              <a:rPr lang="en-US" sz="1200" dirty="0">
                <a:solidFill>
                  <a:prstClr val="black"/>
                </a:solidFill>
              </a:rPr>
              <a:t>28   27   15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8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Randomization Approach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175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73472E-18 C 0.02465 1.73472E-18 0.04931 1.73472E-18 0.07396 1.73472E-18 " pathEditMode="relative" ptsTypes="f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82211E-6 L -0.10573 0.00139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95" y="69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4" grpId="0"/>
      <p:bldP spid="14" grpId="1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1" y="909637"/>
            <a:ext cx="3369585" cy="5702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34177" y="5283092"/>
                <a:ext cx="19908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=21.76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177" y="5283092"/>
                <a:ext cx="1990860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609600" y="1094601"/>
            <a:ext cx="2803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Number of Mosquitoes</a:t>
            </a:r>
          </a:p>
          <a:p>
            <a:endParaRPr lang="en-US" sz="6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67400" y="5255883"/>
                <a:ext cx="22205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𝑊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=22.50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5255883"/>
                <a:ext cx="2220532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300210" y="5897157"/>
                <a:ext cx="509681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𝐵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𝑊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=−0.84</m:t>
                      </m:r>
                    </m:oMath>
                  </m:oMathPara>
                </a14:m>
                <a:endParaRPr lang="en-US" sz="2800" b="0" dirty="0">
                  <a:solidFill>
                    <a:prstClr val="black"/>
                  </a:solidFill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210" y="5897157"/>
                <a:ext cx="5096815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681984" y="1197417"/>
                <a:ext cx="5038344" cy="2246769"/>
              </a:xfrm>
              <a:prstGeom prst="rect">
                <a:avLst/>
              </a:prstGeom>
              <a:solidFill>
                <a:srgbClr val="FFFF99"/>
              </a:solidFill>
              <a:ln w="28575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i="1" dirty="0">
                    <a:solidFill>
                      <a:prstClr val="black"/>
                    </a:solidFill>
                    <a:latin typeface="Cambria" pitchFamily="18" charset="0"/>
                  </a:rPr>
                  <a:t>To simulate samples under H</a:t>
                </a:r>
                <a:r>
                  <a:rPr lang="en-US" sz="2800" i="1" baseline="-25000" dirty="0">
                    <a:solidFill>
                      <a:prstClr val="black"/>
                    </a:solidFill>
                    <a:latin typeface="Cambria" pitchFamily="18" charset="0"/>
                  </a:rPr>
                  <a:t>0</a:t>
                </a:r>
                <a:r>
                  <a:rPr lang="en-US" sz="2800" i="1" dirty="0">
                    <a:solidFill>
                      <a:prstClr val="black"/>
                    </a:solidFill>
                    <a:latin typeface="Cambria" pitchFamily="18" charset="0"/>
                  </a:rPr>
                  <a:t> (no difference):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i="1" dirty="0">
                    <a:solidFill>
                      <a:prstClr val="black"/>
                    </a:solidFill>
                    <a:latin typeface="Cambria" pitchFamily="18" charset="0"/>
                  </a:rPr>
                  <a:t>Re-randomize the values into Beer &amp; Water groups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i="1" dirty="0">
                    <a:solidFill>
                      <a:prstClr val="black"/>
                    </a:solidFill>
                    <a:latin typeface="Cambria" pitchFamily="18" charset="0"/>
                  </a:rPr>
                  <a:t>Compute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𝐵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𝑊</m:t>
                        </m:r>
                      </m:sub>
                    </m:sSub>
                  </m:oMath>
                </a14:m>
                <a:endParaRPr lang="en-US" sz="2800" i="1" dirty="0">
                  <a:solidFill>
                    <a:prstClr val="black"/>
                  </a:solidFill>
                  <a:latin typeface="Cambria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984" y="1197417"/>
                <a:ext cx="5038344" cy="2246769"/>
              </a:xfrm>
              <a:prstGeom prst="rect">
                <a:avLst/>
              </a:prstGeom>
              <a:blipFill rotWithShape="1">
                <a:blip r:embed="rId6"/>
                <a:stretch>
                  <a:fillRect l="-2163" t="-2139" r="-1322" b="-5615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255979" y="1812979"/>
            <a:ext cx="118681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                      24     </a:t>
            </a:r>
          </a:p>
          <a:p>
            <a:r>
              <a:rPr lang="en-US" sz="1200" dirty="0">
                <a:solidFill>
                  <a:prstClr val="black"/>
                </a:solidFill>
              </a:rPr>
              <a:t>20   24   18   19</a:t>
            </a:r>
          </a:p>
          <a:p>
            <a:r>
              <a:rPr lang="en-US" sz="1200" dirty="0">
                <a:solidFill>
                  <a:prstClr val="black"/>
                </a:solidFill>
              </a:rPr>
              <a:t>21   29   20   23</a:t>
            </a:r>
          </a:p>
          <a:p>
            <a:r>
              <a:rPr lang="en-US" sz="1200" dirty="0">
                <a:solidFill>
                  <a:prstClr val="black"/>
                </a:solidFill>
              </a:rPr>
              <a:t>26   20   21   13</a:t>
            </a:r>
          </a:p>
          <a:p>
            <a:r>
              <a:rPr lang="en-US" sz="1200" dirty="0">
                <a:solidFill>
                  <a:prstClr val="black"/>
                </a:solidFill>
              </a:rPr>
              <a:t>27   27   22   22</a:t>
            </a:r>
          </a:p>
          <a:p>
            <a:r>
              <a:rPr lang="en-US" sz="1200" dirty="0">
                <a:solidFill>
                  <a:prstClr val="black"/>
                </a:solidFill>
              </a:rPr>
              <a:t>31   31   15   20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24   20   12   24</a:t>
            </a:r>
          </a:p>
          <a:p>
            <a:r>
              <a:rPr lang="en-US" sz="1200" dirty="0">
                <a:solidFill>
                  <a:prstClr val="black"/>
                </a:solidFill>
              </a:rPr>
              <a:t>19   25   21   18</a:t>
            </a:r>
          </a:p>
          <a:p>
            <a:r>
              <a:rPr lang="en-US" sz="1200" dirty="0">
                <a:solidFill>
                  <a:prstClr val="black"/>
                </a:solidFill>
              </a:rPr>
              <a:t>23   28   16   20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24   21   19   22</a:t>
            </a:r>
          </a:p>
          <a:p>
            <a:r>
              <a:rPr lang="en-US" sz="1200" dirty="0">
                <a:solidFill>
                  <a:prstClr val="black"/>
                </a:solidFill>
              </a:rPr>
              <a:t>28   27   15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981" y="1463405"/>
            <a:ext cx="1075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   </a:t>
            </a:r>
            <a:r>
              <a:rPr lang="en-US" u="sng" dirty="0">
                <a:solidFill>
                  <a:prstClr val="black"/>
                </a:solidFill>
              </a:rPr>
              <a:t>Beer</a:t>
            </a:r>
            <a:r>
              <a:rPr lang="en-US" sz="1400" dirty="0">
                <a:solidFill>
                  <a:prstClr val="black"/>
                </a:solidFill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8501" y="147246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prstClr val="black"/>
                </a:solidFill>
              </a:rPr>
              <a:t>Water</a:t>
            </a:r>
            <a:r>
              <a:rPr lang="en-US" sz="1200" dirty="0">
                <a:solidFill>
                  <a:prstClr val="black"/>
                </a:solidFill>
              </a:rPr>
              <a:t>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6078" y="2003620"/>
            <a:ext cx="36112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24</a:t>
            </a:r>
          </a:p>
          <a:p>
            <a:r>
              <a:rPr lang="en-US" sz="1200" dirty="0">
                <a:solidFill>
                  <a:prstClr val="black"/>
                </a:solidFill>
              </a:rPr>
              <a:t>19</a:t>
            </a:r>
          </a:p>
          <a:p>
            <a:r>
              <a:rPr lang="en-US" sz="1200" dirty="0">
                <a:solidFill>
                  <a:prstClr val="black"/>
                </a:solidFill>
              </a:rPr>
              <a:t>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24</a:t>
            </a:r>
          </a:p>
          <a:p>
            <a:r>
              <a:rPr lang="en-US" sz="1200" dirty="0">
                <a:solidFill>
                  <a:prstClr val="black"/>
                </a:solidFill>
              </a:rPr>
              <a:t>31</a:t>
            </a:r>
          </a:p>
          <a:p>
            <a:r>
              <a:rPr lang="en-US" sz="1200" dirty="0">
                <a:solidFill>
                  <a:prstClr val="black"/>
                </a:solidFill>
              </a:rPr>
              <a:t>13</a:t>
            </a:r>
          </a:p>
          <a:p>
            <a:r>
              <a:rPr lang="en-US" sz="1200" dirty="0">
                <a:solidFill>
                  <a:prstClr val="black"/>
                </a:solidFill>
              </a:rPr>
              <a:t>18</a:t>
            </a:r>
          </a:p>
          <a:p>
            <a:r>
              <a:rPr lang="en-US" sz="1200" dirty="0">
                <a:solidFill>
                  <a:prstClr val="black"/>
                </a:solidFill>
              </a:rPr>
              <a:t>24</a:t>
            </a:r>
          </a:p>
          <a:p>
            <a:r>
              <a:rPr lang="en-US" sz="1200" dirty="0">
                <a:solidFill>
                  <a:prstClr val="black"/>
                </a:solidFill>
              </a:rPr>
              <a:t>25</a:t>
            </a:r>
          </a:p>
          <a:p>
            <a:r>
              <a:rPr lang="en-US" sz="1200" dirty="0">
                <a:solidFill>
                  <a:prstClr val="black"/>
                </a:solidFill>
              </a:rPr>
              <a:t>21</a:t>
            </a:r>
          </a:p>
          <a:p>
            <a:r>
              <a:rPr lang="en-US" sz="1200" dirty="0">
                <a:solidFill>
                  <a:prstClr val="black"/>
                </a:solidFill>
              </a:rPr>
              <a:t>18</a:t>
            </a:r>
          </a:p>
          <a:p>
            <a:r>
              <a:rPr lang="en-US" sz="1200" dirty="0">
                <a:solidFill>
                  <a:prstClr val="black"/>
                </a:solidFill>
              </a:rPr>
              <a:t>15</a:t>
            </a:r>
          </a:p>
          <a:p>
            <a:r>
              <a:rPr lang="en-US" sz="1200" dirty="0">
                <a:solidFill>
                  <a:prstClr val="black"/>
                </a:solidFill>
              </a:rPr>
              <a:t>21</a:t>
            </a:r>
          </a:p>
          <a:p>
            <a:r>
              <a:rPr lang="en-US" sz="1200" dirty="0">
                <a:solidFill>
                  <a:prstClr val="black"/>
                </a:solidFill>
              </a:rPr>
              <a:t>16</a:t>
            </a:r>
          </a:p>
          <a:p>
            <a:r>
              <a:rPr lang="en-US" sz="1200" dirty="0">
                <a:solidFill>
                  <a:prstClr val="black"/>
                </a:solidFill>
              </a:rPr>
              <a:t>28</a:t>
            </a:r>
          </a:p>
          <a:p>
            <a:r>
              <a:rPr lang="en-US" sz="1200" dirty="0">
                <a:solidFill>
                  <a:prstClr val="black"/>
                </a:solidFill>
              </a:rPr>
              <a:t>22</a:t>
            </a:r>
          </a:p>
          <a:p>
            <a:r>
              <a:rPr lang="en-US" sz="1200" dirty="0">
                <a:solidFill>
                  <a:prstClr val="black"/>
                </a:solidFill>
              </a:rPr>
              <a:t>19</a:t>
            </a:r>
          </a:p>
          <a:p>
            <a:r>
              <a:rPr lang="en-US" sz="1200" dirty="0">
                <a:solidFill>
                  <a:prstClr val="black"/>
                </a:solidFill>
              </a:rPr>
              <a:t>27</a:t>
            </a:r>
          </a:p>
          <a:p>
            <a:r>
              <a:rPr lang="en-US" sz="1200" dirty="0">
                <a:solidFill>
                  <a:prstClr val="black"/>
                </a:solidFill>
              </a:rPr>
              <a:t>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23</a:t>
            </a:r>
          </a:p>
          <a:p>
            <a:r>
              <a:rPr lang="en-US" sz="1200" dirty="0">
                <a:solidFill>
                  <a:prstClr val="black"/>
                </a:solidFill>
              </a:rPr>
              <a:t>22</a:t>
            </a:r>
          </a:p>
          <a:p>
            <a:r>
              <a:rPr lang="en-US" sz="1200" dirty="0">
                <a:solidFill>
                  <a:prstClr val="black"/>
                </a:solidFill>
              </a:rPr>
              <a:t>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9920" y="1812979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7920" y="1812979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8456" y="1822158"/>
            <a:ext cx="457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77481" y="2008387"/>
            <a:ext cx="3611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</a:rPr>
              <a:t>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26</a:t>
            </a:r>
          </a:p>
          <a:p>
            <a:r>
              <a:rPr lang="en-US" sz="1200" dirty="0">
                <a:solidFill>
                  <a:prstClr val="black"/>
                </a:solidFill>
              </a:rPr>
              <a:t>31</a:t>
            </a:r>
          </a:p>
          <a:p>
            <a:r>
              <a:rPr lang="en-US" sz="1200" dirty="0">
                <a:solidFill>
                  <a:prstClr val="black"/>
                </a:solidFill>
              </a:rPr>
              <a:t>19</a:t>
            </a:r>
          </a:p>
          <a:p>
            <a:r>
              <a:rPr lang="en-US" sz="1200" dirty="0">
                <a:solidFill>
                  <a:prstClr val="black"/>
                </a:solidFill>
              </a:rPr>
              <a:t>23</a:t>
            </a:r>
          </a:p>
          <a:p>
            <a:r>
              <a:rPr lang="en-US" sz="1200" dirty="0">
                <a:solidFill>
                  <a:prstClr val="black"/>
                </a:solidFill>
              </a:rPr>
              <a:t>15</a:t>
            </a:r>
          </a:p>
          <a:p>
            <a:r>
              <a:rPr lang="en-US" sz="1200" dirty="0">
                <a:solidFill>
                  <a:prstClr val="black"/>
                </a:solidFill>
              </a:rPr>
              <a:t>22</a:t>
            </a:r>
          </a:p>
          <a:p>
            <a:r>
              <a:rPr lang="en-US" sz="1200" dirty="0">
                <a:solidFill>
                  <a:prstClr val="black"/>
                </a:solidFill>
              </a:rPr>
              <a:t>12</a:t>
            </a:r>
          </a:p>
          <a:p>
            <a:r>
              <a:rPr lang="en-US" sz="1200" dirty="0">
                <a:solidFill>
                  <a:prstClr val="black"/>
                </a:solidFill>
              </a:rPr>
              <a:t>24</a:t>
            </a:r>
          </a:p>
          <a:p>
            <a:r>
              <a:rPr lang="en-US" sz="1200" dirty="0">
                <a:solidFill>
                  <a:prstClr val="black"/>
                </a:solidFill>
              </a:rPr>
              <a:t>29</a:t>
            </a:r>
          </a:p>
          <a:p>
            <a:r>
              <a:rPr lang="en-US" sz="1200" dirty="0">
                <a:solidFill>
                  <a:prstClr val="black"/>
                </a:solidFill>
              </a:rPr>
              <a:t>20</a:t>
            </a:r>
          </a:p>
          <a:p>
            <a:r>
              <a:rPr lang="en-US" sz="1200" dirty="0">
                <a:solidFill>
                  <a:prstClr val="black"/>
                </a:solidFill>
              </a:rPr>
              <a:t>27</a:t>
            </a:r>
          </a:p>
          <a:p>
            <a:r>
              <a:rPr lang="en-US" sz="1200" dirty="0">
                <a:solidFill>
                  <a:prstClr val="black"/>
                </a:solidFill>
              </a:rPr>
              <a:t>21</a:t>
            </a:r>
          </a:p>
          <a:p>
            <a:r>
              <a:rPr lang="en-US" sz="1200" dirty="0">
                <a:solidFill>
                  <a:prstClr val="black"/>
                </a:solidFill>
              </a:rPr>
              <a:t>17</a:t>
            </a:r>
          </a:p>
          <a:p>
            <a:r>
              <a:rPr lang="en-US" sz="1200" dirty="0">
                <a:solidFill>
                  <a:prstClr val="black"/>
                </a:solidFill>
              </a:rPr>
              <a:t>24</a:t>
            </a:r>
          </a:p>
          <a:p>
            <a:r>
              <a:rPr lang="en-US" sz="1200" dirty="0">
                <a:solidFill>
                  <a:prstClr val="black"/>
                </a:solidFill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81984" y="3694939"/>
            <a:ext cx="5038344" cy="13849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Repeat this process 1000’s of times to see how “unusual” the original difference of 4.38 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19763" y="5835865"/>
            <a:ext cx="2565919" cy="83099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latin typeface="Arial" pitchFamily="34" charset="0"/>
                <a:cs typeface="Arial" pitchFamily="34" charset="0"/>
              </a:rPr>
              <a:t>Time for Technology</a:t>
            </a:r>
          </a:p>
        </p:txBody>
      </p:sp>
      <p:sp>
        <p:nvSpPr>
          <p:cNvPr id="23" name="Title 1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8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Randomization Approach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20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31483E-6 L 0.14583 0.0011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9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7.40741E-7 L -0.10642 0.00232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30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7037E-7 L -0.13281 0.02847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49" y="14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2.49364E-6 L -0.07465 0.02845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33" y="1411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2.44737E-6 L 0.08542 -0.00047 " pathEditMode="relative" rAng="0" ptsTypes="AA">
                                      <p:cBhvr>
                                        <p:cTn id="38" dur="1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  <p:bldP spid="13" grpId="0"/>
      <p:bldP spid="18" grpId="0"/>
      <p:bldP spid="19" grpId="0"/>
      <p:bldP spid="20" grpId="0"/>
      <p:bldP spid="20" grpId="1"/>
      <p:bldP spid="21" grpId="0"/>
      <p:bldP spid="22" grpId="0"/>
      <p:bldP spid="24" grpId="0"/>
      <p:bldP spid="25" grpId="0"/>
      <p:bldP spid="25" grpId="1"/>
      <p:bldP spid="4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21B2E-2B6F-5B2F-F4E3-3FABA575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BF8BDE-F866-6B90-C179-CB7D56A4C758}"/>
              </a:ext>
            </a:extLst>
          </p:cNvPr>
          <p:cNvSpPr txBox="1"/>
          <p:nvPr/>
        </p:nvSpPr>
        <p:spPr>
          <a:xfrm>
            <a:off x="571500" y="3222564"/>
            <a:ext cx="75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1" dirty="0">
                <a:solidFill>
                  <a:schemeClr val="accent1">
                    <a:lumMod val="50000"/>
                  </a:schemeClr>
                </a:solidFill>
              </a:rPr>
              <a:t>lock5stat.com/</a:t>
            </a:r>
            <a:r>
              <a:rPr lang="en-US" sz="4800" b="1" i="1" dirty="0" err="1">
                <a:solidFill>
                  <a:schemeClr val="accent1">
                    <a:lumMod val="50000"/>
                  </a:schemeClr>
                </a:solidFill>
              </a:rPr>
              <a:t>statkey</a:t>
            </a:r>
            <a:endParaRPr lang="en-US" sz="48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3620C8-2BC1-D6D1-EFC7-B70AE1D27BA7}"/>
              </a:ext>
            </a:extLst>
          </p:cNvPr>
          <p:cNvSpPr txBox="1"/>
          <p:nvPr/>
        </p:nvSpPr>
        <p:spPr>
          <a:xfrm>
            <a:off x="1295400" y="1143000"/>
            <a:ext cx="6096000" cy="144655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  <a:shade val="30000"/>
                  <a:satMod val="115000"/>
                </a:schemeClr>
              </a:gs>
              <a:gs pos="50000">
                <a:schemeClr val="bg1">
                  <a:lumMod val="85000"/>
                  <a:shade val="67500"/>
                  <a:satMod val="115000"/>
                </a:schemeClr>
              </a:gs>
              <a:gs pos="100000">
                <a:schemeClr val="bg1">
                  <a:lumMod val="8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800" b="1" i="1" dirty="0">
                <a:latin typeface="Arial" pitchFamily="34" charset="0"/>
                <a:cs typeface="Arial" pitchFamily="34" charset="0"/>
              </a:rPr>
              <a:t>StatKey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4E6D00A-D8D3-80E5-05CA-4BF8FACB354F}"/>
              </a:ext>
            </a:extLst>
          </p:cNvPr>
          <p:cNvSpPr txBox="1">
            <a:spLocks/>
          </p:cNvSpPr>
          <p:nvPr/>
        </p:nvSpPr>
        <p:spPr>
          <a:xfrm>
            <a:off x="304800" y="4419600"/>
            <a:ext cx="8742380" cy="1820764"/>
          </a:xfrm>
          <a:prstGeom prst="rect">
            <a:avLst/>
          </a:prstGeom>
        </p:spPr>
        <p:txBody>
          <a:bodyPr>
            <a:noAutofit/>
          </a:bodyPr>
          <a:lstStyle>
            <a:lvl1pPr marL="265176" indent="-265176" algn="l" rtl="0" eaLnBrk="1" latinLnBrk="0" hangingPunct="1">
              <a:spcBef>
                <a:spcPts val="25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48640" indent="-201168" algn="l" rtl="0" eaLnBrk="1" latinLnBrk="0" hangingPunct="1">
              <a:spcBef>
                <a:spcPts val="250"/>
              </a:spcBef>
              <a:buClr>
                <a:schemeClr val="accent1"/>
              </a:buClr>
              <a:buSzPct val="100000"/>
              <a:buFont typeface="Verdana"/>
              <a:buChar char="◦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6384" indent="-182880" algn="l" rtl="0" eaLnBrk="1" latinLnBrk="0" hangingPunct="1">
              <a:spcBef>
                <a:spcPts val="250"/>
              </a:spcBef>
              <a:buClr>
                <a:schemeClr val="accent2">
                  <a:tint val="85000"/>
                  <a:satMod val="285000"/>
                </a:schemeClr>
              </a:buClr>
              <a:buSzPct val="100000"/>
              <a:buFont typeface="Wingdings 2"/>
              <a:buChar char="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4128" indent="-182880" algn="l" rtl="0" eaLnBrk="1" latinLnBrk="0" hangingPunct="1">
              <a:spcBef>
                <a:spcPts val="230"/>
              </a:spcBef>
              <a:buClr>
                <a:schemeClr val="accent2">
                  <a:tint val="85000"/>
                  <a:satMod val="285000"/>
                </a:schemeClr>
              </a:buClr>
              <a:buSzPct val="112000"/>
              <a:buFont typeface="Verdana"/>
              <a:buChar char="◦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90472" indent="-182880" algn="l" rtl="0" eaLnBrk="1" latinLnBrk="0" hangingPunct="1">
              <a:spcBef>
                <a:spcPts val="250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/>
              <a:buChar char="◦"/>
              <a:defRPr kumimoji="0" sz="17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00784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spcBef>
                <a:spcPts val="257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Verdana"/>
              <a:buChar char="◦"/>
              <a:defRPr kumimoji="0" sz="15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48840" indent="-182880" algn="l" rtl="0" eaLnBrk="1" latinLnBrk="0" hangingPunct="1">
              <a:spcBef>
                <a:spcPts val="255"/>
              </a:spcBef>
              <a:buClr>
                <a:schemeClr val="accent3">
                  <a:tint val="85000"/>
                  <a:satMod val="275000"/>
                </a:schemeClr>
              </a:buClr>
              <a:buSzPct val="100000"/>
              <a:buFont typeface="Wingdings 2"/>
              <a:buChar char=""/>
              <a:defRPr kumimoji="0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0" indent="0" algn="ctr">
              <a:spcBef>
                <a:spcPts val="1200"/>
              </a:spcBef>
              <a:buFont typeface="Wingdings 2"/>
              <a:buNone/>
            </a:pPr>
            <a:endParaRPr lang="en-US" sz="300" dirty="0">
              <a:latin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dirty="0">
                <a:latin typeface="Calibri"/>
                <a:cs typeface="Calibri"/>
              </a:rPr>
              <a:t>Freely available web apps with no login required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Calibri"/>
                <a:cs typeface="Calibri"/>
              </a:rPr>
              <a:t>Runs in (almost) any browser (incl. smartphones/tablets) 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Calibri"/>
                <a:cs typeface="Calibri"/>
              </a:rPr>
              <a:t>Use standalone or supplement to existing technology</a:t>
            </a:r>
          </a:p>
        </p:txBody>
      </p:sp>
    </p:spTree>
    <p:extLst>
      <p:ext uri="{BB962C8B-B14F-4D97-AF65-F5344CB8AC3E}">
        <p14:creationId xmlns:p14="http://schemas.microsoft.com/office/powerpoint/2010/main" val="52266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3F486-C153-1120-C635-58147A93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498345AD-16F1-A993-0CED-6086D2152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57200"/>
            <a:ext cx="8686229" cy="6127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2B27BC-E6C5-9414-6DB5-238AEFB87418}"/>
              </a:ext>
            </a:extLst>
          </p:cNvPr>
          <p:cNvSpPr/>
          <p:nvPr/>
        </p:nvSpPr>
        <p:spPr>
          <a:xfrm>
            <a:off x="238125" y="1676400"/>
            <a:ext cx="2962275" cy="2514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9DD7F0-4CC8-DC66-0D78-BC63B6C257FC}"/>
              </a:ext>
            </a:extLst>
          </p:cNvPr>
          <p:cNvSpPr/>
          <p:nvPr/>
        </p:nvSpPr>
        <p:spPr>
          <a:xfrm>
            <a:off x="3124199" y="1676400"/>
            <a:ext cx="2819401" cy="2514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12AFAC-14C8-3B92-4089-FC30ADBCCACE}"/>
              </a:ext>
            </a:extLst>
          </p:cNvPr>
          <p:cNvSpPr/>
          <p:nvPr/>
        </p:nvSpPr>
        <p:spPr>
          <a:xfrm>
            <a:off x="380999" y="4267200"/>
            <a:ext cx="8382001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932F6B-BFF0-7BD7-EE49-A765FA4BA441}"/>
              </a:ext>
            </a:extLst>
          </p:cNvPr>
          <p:cNvSpPr/>
          <p:nvPr/>
        </p:nvSpPr>
        <p:spPr>
          <a:xfrm>
            <a:off x="5943600" y="1676400"/>
            <a:ext cx="2819401" cy="2514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E57665-FBA7-41EC-05A0-C7F2BD95B9C6}"/>
              </a:ext>
            </a:extLst>
          </p:cNvPr>
          <p:cNvSpPr/>
          <p:nvPr/>
        </p:nvSpPr>
        <p:spPr>
          <a:xfrm>
            <a:off x="452760" y="4724400"/>
            <a:ext cx="8386440" cy="6096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BFF049-271C-E546-0490-00AF2A1204DC}"/>
              </a:ext>
            </a:extLst>
          </p:cNvPr>
          <p:cNvSpPr/>
          <p:nvPr/>
        </p:nvSpPr>
        <p:spPr>
          <a:xfrm>
            <a:off x="452760" y="5334000"/>
            <a:ext cx="8386440" cy="7050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B54B78-8518-7584-B3E4-6264693DA02E}"/>
              </a:ext>
            </a:extLst>
          </p:cNvPr>
          <p:cNvSpPr/>
          <p:nvPr/>
        </p:nvSpPr>
        <p:spPr>
          <a:xfrm>
            <a:off x="152400" y="6053783"/>
            <a:ext cx="533400" cy="7050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189E30-79BF-8D63-4CAD-5A3F060F0B66}"/>
              </a:ext>
            </a:extLst>
          </p:cNvPr>
          <p:cNvSpPr txBox="1"/>
          <p:nvPr/>
        </p:nvSpPr>
        <p:spPr>
          <a:xfrm>
            <a:off x="1447800" y="0"/>
            <a:ext cx="624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/>
              <a:t>lock5stat.com/</a:t>
            </a:r>
            <a:r>
              <a:rPr lang="en-US" sz="3200" i="1" dirty="0" err="1"/>
              <a:t>statkey</a:t>
            </a:r>
            <a:endParaRPr lang="en-US" sz="3200" i="1" dirty="0"/>
          </a:p>
        </p:txBody>
      </p:sp>
    </p:spTree>
    <p:extLst>
      <p:ext uri="{BB962C8B-B14F-4D97-AF65-F5344CB8AC3E}">
        <p14:creationId xmlns:p14="http://schemas.microsoft.com/office/powerpoint/2010/main" val="414573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Randomization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5738211"/>
            <a:ext cx="9067800" cy="990600"/>
          </a:xfrm>
        </p:spPr>
        <p:txBody>
          <a:bodyPr/>
          <a:lstStyle/>
          <a:p>
            <a:pPr marL="0" indent="0">
              <a:buNone/>
            </a:pPr>
            <a:r>
              <a:rPr lang="en-US" sz="2700" dirty="0"/>
              <a:t>If there were no difference between beer and water, we would only see differences this extreme 0.05% of the time!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7" y="990601"/>
            <a:ext cx="9195145" cy="4747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2514600" y="4061811"/>
            <a:ext cx="2057400" cy="685800"/>
          </a:xfrm>
          <a:prstGeom prst="roundRect">
            <a:avLst/>
          </a:prstGeom>
          <a:solidFill>
            <a:srgbClr val="FFFF00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Distribution of statistic if H</a:t>
            </a:r>
            <a:r>
              <a:rPr lang="en-US" baseline="-25000" dirty="0">
                <a:solidFill>
                  <a:schemeClr val="tx1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 true</a:t>
            </a:r>
          </a:p>
        </p:txBody>
      </p:sp>
      <p:sp>
        <p:nvSpPr>
          <p:cNvPr id="6" name="Left Arrow 5"/>
          <p:cNvSpPr/>
          <p:nvPr/>
        </p:nvSpPr>
        <p:spPr>
          <a:xfrm flipH="1">
            <a:off x="3733800" y="5257800"/>
            <a:ext cx="2286000" cy="609600"/>
          </a:xfrm>
          <a:prstGeom prst="leftArrow">
            <a:avLst>
              <a:gd name="adj1" fmla="val 35185"/>
              <a:gd name="adj2" fmla="val 381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observed statistic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6838988" y="1184856"/>
            <a:ext cx="1143000" cy="381000"/>
          </a:xfrm>
          <a:prstGeom prst="ellipse">
            <a:avLst/>
          </a:prstGeom>
          <a:noFill/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FFFF66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 flipH="1">
            <a:off x="6553200" y="1565856"/>
            <a:ext cx="889714" cy="3844344"/>
          </a:xfrm>
          <a:prstGeom prst="straightConnector1">
            <a:avLst/>
          </a:prstGeom>
          <a:solidFill>
            <a:schemeClr val="tx1"/>
          </a:solidFill>
          <a:ln w="28575" cap="flat" cmpd="sng" algn="ctr">
            <a:solidFill>
              <a:schemeClr val="tx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Left Arrow 8"/>
          <p:cNvSpPr/>
          <p:nvPr/>
        </p:nvSpPr>
        <p:spPr>
          <a:xfrm flipH="1">
            <a:off x="4267200" y="3171568"/>
            <a:ext cx="1485900" cy="687211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p-value</a:t>
            </a:r>
          </a:p>
        </p:txBody>
      </p:sp>
    </p:spTree>
    <p:extLst>
      <p:ext uri="{BB962C8B-B14F-4D97-AF65-F5344CB8AC3E}">
        <p14:creationId xmlns:p14="http://schemas.microsoft.com/office/powerpoint/2010/main" val="136201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18"/>
          <a:stretch/>
        </p:blipFill>
        <p:spPr bwMode="auto">
          <a:xfrm>
            <a:off x="914400" y="1617236"/>
            <a:ext cx="7391400" cy="519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val 3"/>
          <p:cNvSpPr/>
          <p:nvPr/>
        </p:nvSpPr>
        <p:spPr>
          <a:xfrm>
            <a:off x="7146324" y="6287529"/>
            <a:ext cx="1159476" cy="523255"/>
          </a:xfrm>
          <a:prstGeom prst="ellipse">
            <a:avLst/>
          </a:prstGeom>
          <a:noFill/>
          <a:ln w="1270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267200" y="6091956"/>
            <a:ext cx="1143000" cy="537444"/>
          </a:xfrm>
          <a:prstGeom prst="ellipse">
            <a:avLst/>
          </a:prstGeom>
          <a:noFill/>
          <a:ln w="12700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685800" y="1676400"/>
            <a:ext cx="7848600" cy="5134384"/>
          </a:xfrm>
          <a:prstGeom prst="ellipse">
            <a:avLst/>
          </a:prstGeom>
          <a:noFill/>
          <a:ln w="127000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952734" y="4114800"/>
            <a:ext cx="1353065" cy="533400"/>
          </a:xfrm>
          <a:prstGeom prst="ellipse">
            <a:avLst/>
          </a:prstGeom>
          <a:noFill/>
          <a:ln w="1270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32914" y="0"/>
            <a:ext cx="85344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800000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n-US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p-value: The chance of obtaining a statistic as extreme as that observed, just by random chance, if the null hypothesis is true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914" y="0"/>
            <a:ext cx="8534400" cy="1524000"/>
          </a:xfrm>
        </p:spPr>
        <p:txBody>
          <a:bodyPr>
            <a:noAutofit/>
          </a:bodyPr>
          <a:lstStyle/>
          <a:p>
            <a:pPr algn="l"/>
            <a:r>
              <a:rPr lang="en-US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p-value: The chance of obtaining a statistic as extreme as that observed, just by random chance, </a:t>
            </a:r>
            <a:r>
              <a:rPr lang="en-US" sz="3200" b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null hypothesis is true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332914" y="515"/>
            <a:ext cx="85344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800000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n-US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p-value: The chance of obtaining a statistic as extreme as that observed, </a:t>
            </a:r>
            <a:r>
              <a:rPr lang="en-US" sz="3200" b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by random chance,</a:t>
            </a:r>
            <a:r>
              <a:rPr lang="en-US" sz="32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null hypothesis is true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332914" y="-515"/>
            <a:ext cx="85344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800000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n-US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p-value: The chance of obtaining a statistic as extreme </a:t>
            </a:r>
            <a:r>
              <a:rPr lang="en-US" sz="3200" b="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that observed</a:t>
            </a:r>
            <a:r>
              <a:rPr lang="en-US" sz="3200" b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by random chance,</a:t>
            </a:r>
            <a:r>
              <a:rPr lang="en-US" sz="32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null hypothesis is true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32914" y="0"/>
            <a:ext cx="85344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800000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n-US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p-value: </a:t>
            </a:r>
            <a:r>
              <a:rPr lang="en-US" sz="3200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chance of obtaining a statistic as extreme</a:t>
            </a:r>
            <a:r>
              <a:rPr lang="en-US" sz="3200" b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that observed</a:t>
            </a:r>
            <a:r>
              <a:rPr lang="en-US" sz="3200" b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3200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by random chance,</a:t>
            </a:r>
            <a:r>
              <a:rPr lang="en-US" sz="32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null hypothesis </a:t>
            </a:r>
            <a:r>
              <a:rPr lang="en-US" sz="3200" b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true </a:t>
            </a:r>
            <a:endParaRPr lang="en-US" sz="3200" b="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673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2" grpId="0"/>
      <p:bldP spid="10" grpId="0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5813" y="1014413"/>
            <a:ext cx="738663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The difference of 4.38 is very unlikely to happen just by random chance.</a:t>
            </a:r>
          </a:p>
          <a:p>
            <a:endParaRPr lang="en-US" sz="4400" b="1" dirty="0"/>
          </a:p>
          <a:p>
            <a:r>
              <a:rPr lang="en-US" sz="4400" b="1" dirty="0"/>
              <a:t>We have strong evidence that drinking beer does attract mosquitoes!</a:t>
            </a:r>
          </a:p>
        </p:txBody>
      </p:sp>
    </p:spTree>
    <p:extLst>
      <p:ext uri="{BB962C8B-B14F-4D97-AF65-F5344CB8AC3E}">
        <p14:creationId xmlns:p14="http://schemas.microsoft.com/office/powerpoint/2010/main" val="233469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57200" y="180968"/>
            <a:ext cx="8153400" cy="1219200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en-US" sz="4000" b="1" u="sng" dirty="0">
                <a:solidFill>
                  <a:srgbClr val="68007F">
                    <a:lumMod val="75000"/>
                  </a:srgbClr>
                </a:solidFill>
                <a:latin typeface="Cambria" pitchFamily="18" charset="0"/>
              </a:rPr>
              <a:t>Beer and Mosquitoes:  Take 2</a:t>
            </a:r>
            <a:endParaRPr lang="en-US" sz="3600" b="1" u="sng" dirty="0">
              <a:solidFill>
                <a:srgbClr val="68007F">
                  <a:lumMod val="75000"/>
                </a:srgbClr>
              </a:solidFill>
              <a:latin typeface="Cambria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14701" y="4491024"/>
            <a:ext cx="51292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Cambria" pitchFamily="18" charset="0"/>
              </a:rPr>
              <a:t>What about the traditional approach to this question?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447800"/>
            <a:ext cx="4038600" cy="2554545"/>
          </a:xfrm>
          <a:prstGeom prst="rect">
            <a:avLst/>
          </a:prstGeom>
          <a:solidFill>
            <a:srgbClr val="FFFF99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>
                <a:solidFill>
                  <a:prstClr val="black"/>
                </a:solidFill>
                <a:latin typeface="Cambria" pitchFamily="18" charset="0"/>
              </a:rPr>
              <a:t>Does drinking beer actually attract mosquitoes, OR is the difference just due to random chance?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0521" y="1472466"/>
            <a:ext cx="914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u="sng" dirty="0">
                <a:solidFill>
                  <a:prstClr val="black"/>
                </a:solidFill>
                <a:latin typeface="Calibri"/>
              </a:rPr>
              <a:t>Water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21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22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15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12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21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16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19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15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24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19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23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13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22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20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24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18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20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22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227" y="1447799"/>
            <a:ext cx="107538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black"/>
                </a:solidFill>
                <a:latin typeface="Calibri"/>
              </a:rPr>
              <a:t>   </a:t>
            </a:r>
            <a:r>
              <a:rPr lang="en-US" sz="1800" u="sng" dirty="0">
                <a:solidFill>
                  <a:prstClr val="black"/>
                </a:solidFill>
                <a:latin typeface="Calibri"/>
              </a:rPr>
              <a:t>Beer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prstClr val="black"/>
                </a:solidFill>
                <a:latin typeface="Calibri"/>
              </a:rPr>
              <a:t>     </a:t>
            </a:r>
            <a:r>
              <a:rPr lang="en-US" sz="1200" dirty="0">
                <a:solidFill>
                  <a:prstClr val="black"/>
                </a:solidFill>
                <a:latin typeface="Calibri"/>
              </a:rPr>
              <a:t>27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20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21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26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27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31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24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19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23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24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28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19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24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29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20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17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31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20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25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27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18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prstClr val="black"/>
                </a:solidFill>
                <a:latin typeface="Calibri"/>
              </a:rPr>
              <a:t>      20       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094601"/>
            <a:ext cx="2803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black"/>
                </a:solidFill>
                <a:latin typeface="Calibri"/>
              </a:rPr>
              <a:t>Number of Mosquitoes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600" dirty="0">
              <a:solidFill>
                <a:prstClr val="black"/>
              </a:solidFill>
              <a:latin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5649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533400" y="38088"/>
            <a:ext cx="8153400" cy="9144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>
                <a:solidFill>
                  <a:srgbClr val="68007F">
                    <a:lumMod val="75000"/>
                  </a:srgbClr>
                </a:solidFill>
                <a:latin typeface="Cambria" pitchFamily="18" charset="0"/>
              </a:rPr>
              <a:t>Traditional Inference</a:t>
            </a:r>
            <a:endParaRPr lang="en-US" sz="4000" b="1" dirty="0">
              <a:solidFill>
                <a:srgbClr val="68007F">
                  <a:lumMod val="75000"/>
                </a:srgbClr>
              </a:solidFill>
              <a:latin typeface="Cambria" pitchFamily="18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38600" y="1389850"/>
            <a:ext cx="4495800" cy="523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5-Point Star 7"/>
          <p:cNvSpPr/>
          <p:nvPr/>
        </p:nvSpPr>
        <p:spPr>
          <a:xfrm>
            <a:off x="8013879" y="3797121"/>
            <a:ext cx="76200" cy="762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81000" y="10668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2. Which formula?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87469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3. Calculate numbers and plug into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5117068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4. Chug with calculator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0760" y="10668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5. Which theoretical distribution?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6472" y="16002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6. </a:t>
            </a:r>
            <a:r>
              <a:rPr lang="en-US" dirty="0" err="1">
                <a:solidFill>
                  <a:srgbClr val="C00000"/>
                </a:solidFill>
              </a:rPr>
              <a:t>df</a:t>
            </a:r>
            <a:r>
              <a:rPr lang="en-US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5048" y="2124080"/>
            <a:ext cx="1557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7. Find p-value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62400" y="3772437"/>
            <a:ext cx="228600" cy="76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57200" y="6074190"/>
            <a:ext cx="3276600" cy="369332"/>
          </a:xfrm>
          <a:prstGeom prst="rect">
            <a:avLst/>
          </a:prstGeom>
          <a:solidFill>
            <a:srgbClr val="FFFF99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0.0005 &lt; p-value &lt; 0.001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232" y="690544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1. Check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37798" y="1486224"/>
                <a:ext cx="2152962" cy="1573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𝑊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𝐵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𝑊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𝑊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798" y="1486224"/>
                <a:ext cx="2152962" cy="157344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76232" y="3820732"/>
                <a:ext cx="2807492" cy="12455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23.6−19.22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4.1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25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3.7</m:t>
                                      </m:r>
                                    </m:e>
                                    <m:sub/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18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32" y="3820732"/>
                <a:ext cx="2807492" cy="124553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333987" y="5472345"/>
                <a:ext cx="185785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=3.68</m:t>
                      </m:r>
                    </m:oMath>
                  </m:oMathPara>
                </a14:m>
                <a:endParaRPr 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87" y="5472345"/>
                <a:ext cx="1857850" cy="46166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 bwMode="auto">
          <a:xfrm>
            <a:off x="4229637" y="3733261"/>
            <a:ext cx="4206025" cy="18288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FFFF66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 bwMode="auto">
          <a:xfrm flipV="1">
            <a:off x="8078191" y="1969532"/>
            <a:ext cx="11888" cy="1764268"/>
          </a:xfrm>
          <a:prstGeom prst="straightConnector1">
            <a:avLst/>
          </a:prstGeom>
          <a:solidFill>
            <a:schemeClr val="tx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7" name="Oval 26"/>
          <p:cNvSpPr/>
          <p:nvPr/>
        </p:nvSpPr>
        <p:spPr bwMode="auto">
          <a:xfrm>
            <a:off x="7620000" y="1600200"/>
            <a:ext cx="914400" cy="4572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FFFF66"/>
              </a:solidFill>
              <a:effectLst/>
              <a:latin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16853" y="2529901"/>
            <a:ext cx="1557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8. Interpret a decision</a:t>
            </a:r>
          </a:p>
        </p:txBody>
      </p:sp>
      <p:sp>
        <p:nvSpPr>
          <p:cNvPr id="4" name="Oval 3"/>
          <p:cNvSpPr/>
          <p:nvPr/>
        </p:nvSpPr>
        <p:spPr>
          <a:xfrm>
            <a:off x="148243" y="5748266"/>
            <a:ext cx="3780813" cy="1052578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074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/>
      <p:bldP spid="12" grpId="0"/>
      <p:bldP spid="13" grpId="0"/>
      <p:bldP spid="14" grpId="0"/>
      <p:bldP spid="15" grpId="0"/>
      <p:bldP spid="16" grpId="0" animBg="1"/>
      <p:bldP spid="18" grpId="0" animBg="1"/>
      <p:bldP spid="21" grpId="0"/>
      <p:bldP spid="22" grpId="0"/>
      <p:bldP spid="23" grpId="0"/>
      <p:bldP spid="24" grpId="0"/>
      <p:bldP spid="25" grpId="0" animBg="1"/>
      <p:bldP spid="27" grpId="0" animBg="1"/>
      <p:bldP spid="28" grpId="0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71513"/>
            <a:ext cx="71866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The conclusion is the same, but the method used to get there is very different.</a:t>
            </a:r>
          </a:p>
        </p:txBody>
      </p:sp>
    </p:spTree>
    <p:extLst>
      <p:ext uri="{BB962C8B-B14F-4D97-AF65-F5344CB8AC3E}">
        <p14:creationId xmlns:p14="http://schemas.microsoft.com/office/powerpoint/2010/main" val="3431718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685800"/>
            <a:ext cx="8534400" cy="4201150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marL="290513" indent="-290513">
              <a:spcAft>
                <a:spcPts val="1800"/>
              </a:spcAft>
              <a:buFont typeface="Arial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cs typeface="Times New Roman" pitchFamily="18" charset="0"/>
              </a:rPr>
              <a:t> Create a </a:t>
            </a:r>
            <a:r>
              <a:rPr lang="en-US" sz="3600" b="1" dirty="0">
                <a:solidFill>
                  <a:srgbClr val="C00000"/>
                </a:solidFill>
                <a:cs typeface="Times New Roman" pitchFamily="18" charset="0"/>
              </a:rPr>
              <a:t>randomization distribution </a:t>
            </a:r>
            <a:r>
              <a:rPr lang="en-US" sz="3600" dirty="0">
                <a:solidFill>
                  <a:prstClr val="black"/>
                </a:solidFill>
                <a:cs typeface="Times New Roman" pitchFamily="18" charset="0"/>
              </a:rPr>
              <a:t>by simulating many samples from the original data, </a:t>
            </a:r>
            <a:r>
              <a:rPr lang="en-US" sz="3600" i="1" dirty="0">
                <a:solidFill>
                  <a:prstClr val="black"/>
                </a:solidFill>
                <a:cs typeface="Times New Roman" pitchFamily="18" charset="0"/>
              </a:rPr>
              <a:t>assuming H</a:t>
            </a:r>
            <a:r>
              <a:rPr lang="en-US" sz="3600" i="1" baseline="-25000" dirty="0">
                <a:solidFill>
                  <a:prstClr val="black"/>
                </a:solidFill>
                <a:cs typeface="Times New Roman" pitchFamily="18" charset="0"/>
              </a:rPr>
              <a:t>0</a:t>
            </a:r>
            <a:r>
              <a:rPr lang="en-US" sz="3600" i="1" dirty="0">
                <a:solidFill>
                  <a:prstClr val="black"/>
                </a:solidFill>
                <a:cs typeface="Times New Roman" pitchFamily="18" charset="0"/>
              </a:rPr>
              <a:t> is true</a:t>
            </a:r>
            <a:r>
              <a:rPr lang="en-US" sz="3600" dirty="0">
                <a:solidFill>
                  <a:prstClr val="black"/>
                </a:solidFill>
                <a:cs typeface="Times New Roman" pitchFamily="18" charset="0"/>
              </a:rPr>
              <a:t>, and calculating the sample statistic for each new sample.</a:t>
            </a:r>
          </a:p>
          <a:p>
            <a:pPr marL="290513" indent="-290513">
              <a:buFont typeface="Arial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cs typeface="Times New Roman" pitchFamily="18" charset="0"/>
              </a:rPr>
              <a:t>Estimate </a:t>
            </a:r>
            <a:r>
              <a:rPr lang="en-US" sz="3600" b="1" dirty="0">
                <a:solidFill>
                  <a:srgbClr val="C00000"/>
                </a:solidFill>
                <a:cs typeface="Times New Roman" pitchFamily="18" charset="0"/>
              </a:rPr>
              <a:t>p-value </a:t>
            </a:r>
            <a:r>
              <a:rPr lang="en-US" sz="3600" dirty="0">
                <a:solidFill>
                  <a:prstClr val="black"/>
                </a:solidFill>
                <a:cs typeface="Times New Roman" pitchFamily="18" charset="0"/>
              </a:rPr>
              <a:t>directly as the proportion of these randomization statistics that exceed the original sample statistic.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9600" y="5029200"/>
            <a:ext cx="891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Small p-value  </a:t>
            </a:r>
            <a:r>
              <a:rPr lang="en-US" sz="3600" dirty="0">
                <a:sym typeface="Symbol"/>
              </a:rPr>
              <a:t> Strong evidence against H</a:t>
            </a:r>
            <a:r>
              <a:rPr lang="en-US" sz="3600" baseline="-25000" dirty="0">
                <a:sym typeface="Symbol"/>
              </a:rPr>
              <a:t>o</a:t>
            </a:r>
            <a:endParaRPr lang="en-US" sz="3600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8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Randomization Approach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9DA25-3DFA-74E1-219A-3C31076336EA}"/>
              </a:ext>
            </a:extLst>
          </p:cNvPr>
          <p:cNvSpPr txBox="1"/>
          <p:nvPr/>
        </p:nvSpPr>
        <p:spPr>
          <a:xfrm>
            <a:off x="-12834" y="5814573"/>
            <a:ext cx="9349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Same general procedure works in </a:t>
            </a:r>
            <a:r>
              <a:rPr lang="en-US" sz="3600" u="sng" dirty="0"/>
              <a:t>lots</a:t>
            </a:r>
            <a:r>
              <a:rPr lang="en-US" sz="3600" dirty="0"/>
              <a:t> of settings.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857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 animBg="1"/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F71B9-D2CC-CC0A-D048-D2C22C4EF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9C73D04-A478-C7DD-DBC3-CF91DE8EB086}"/>
              </a:ext>
            </a:extLst>
          </p:cNvPr>
          <p:cNvSpPr txBox="1">
            <a:spLocks/>
          </p:cNvSpPr>
          <p:nvPr/>
        </p:nvSpPr>
        <p:spPr>
          <a:xfrm>
            <a:off x="495300" y="152400"/>
            <a:ext cx="7886700" cy="685800"/>
          </a:xfrm>
          <a:prstGeom prst="rect">
            <a:avLst/>
          </a:prstGeom>
          <a:solidFill>
            <a:srgbClr val="FFFF99"/>
          </a:solidFill>
          <a:ln w="28575">
            <a:solidFill>
              <a:srgbClr val="C00000"/>
            </a:solidFill>
          </a:ln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>
                <a:solidFill>
                  <a:srgbClr val="C00000"/>
                </a:solidFill>
                <a:latin typeface="+mj-lt"/>
              </a:rPr>
              <a:t>Example: Split or Steal?</a:t>
            </a:r>
            <a:endParaRPr lang="en-US" sz="4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E2A92B-97CC-4544-CEE8-D4FAD5ACC689}"/>
              </a:ext>
            </a:extLst>
          </p:cNvPr>
          <p:cNvSpPr txBox="1"/>
          <p:nvPr/>
        </p:nvSpPr>
        <p:spPr>
          <a:xfrm>
            <a:off x="152400" y="1038140"/>
            <a:ext cx="891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accent1"/>
              </a:buClr>
            </a:pPr>
            <a:r>
              <a:rPr lang="en-US" sz="2800" dirty="0"/>
              <a:t> </a:t>
            </a:r>
            <a:r>
              <a:rPr lang="en-US" sz="2800" dirty="0">
                <a:hlinkClick r:id="rId4"/>
              </a:rPr>
              <a:t>https://econ.video/2017/08/24/golden-balls-split-or-steal/</a:t>
            </a:r>
            <a:endParaRPr lang="en-US" sz="2800" dirty="0"/>
          </a:p>
        </p:txBody>
      </p:sp>
      <p:pic>
        <p:nvPicPr>
          <p:cNvPr id="9218" name="Picture 2" descr="https://encrypted-tbn3.gstatic.com/images?q=tbn:ANd9GcQdiPCRWdCSutedZ12QFpyVFpZLbi1Uqq2NqFO-AAgG_SciIRsQ">
            <a:extLst>
              <a:ext uri="{FF2B5EF4-FFF2-40B4-BE49-F238E27FC236}">
                <a16:creationId xmlns:a16="http://schemas.microsoft.com/office/drawing/2014/main" id="{1AF2DC6F-B708-F657-9A6E-DB7C50387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187" y="1628651"/>
            <a:ext cx="1943100" cy="2442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10E91E-72F8-9E58-5A5B-BE36E87C5709}"/>
              </a:ext>
            </a:extLst>
          </p:cNvPr>
          <p:cNvSpPr txBox="1"/>
          <p:nvPr/>
        </p:nvSpPr>
        <p:spPr>
          <a:xfrm>
            <a:off x="299370" y="6233825"/>
            <a:ext cx="8611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Van den </a:t>
            </a:r>
            <a:r>
              <a:rPr lang="en-US" sz="1600" dirty="0" err="1">
                <a:solidFill>
                  <a:schemeClr val="tx1"/>
                </a:solidFill>
              </a:rPr>
              <a:t>Assem</a:t>
            </a:r>
            <a:r>
              <a:rPr lang="en-US" sz="1600" dirty="0">
                <a:solidFill>
                  <a:schemeClr val="tx1"/>
                </a:solidFill>
              </a:rPr>
              <a:t>, M., Van </a:t>
            </a:r>
            <a:r>
              <a:rPr lang="en-US" sz="1600" dirty="0" err="1">
                <a:solidFill>
                  <a:schemeClr val="tx1"/>
                </a:solidFill>
              </a:rPr>
              <a:t>Dolder</a:t>
            </a:r>
            <a:r>
              <a:rPr lang="en-US" sz="1600" dirty="0">
                <a:solidFill>
                  <a:schemeClr val="tx1"/>
                </a:solidFill>
              </a:rPr>
              <a:t>, D., and </a:t>
            </a:r>
            <a:r>
              <a:rPr lang="en-US" sz="1600" dirty="0" err="1">
                <a:solidFill>
                  <a:schemeClr val="tx1"/>
                </a:solidFill>
              </a:rPr>
              <a:t>Thaler</a:t>
            </a:r>
            <a:r>
              <a:rPr lang="en-US" sz="1600" dirty="0">
                <a:solidFill>
                  <a:schemeClr val="tx1"/>
                </a:solidFill>
              </a:rPr>
              <a:t>, R., “</a:t>
            </a:r>
            <a:r>
              <a:rPr lang="en-US" sz="1600" dirty="0">
                <a:solidFill>
                  <a:schemeClr val="tx1"/>
                </a:solidFill>
                <a:hlinkClick r:id="rId6"/>
              </a:rPr>
              <a:t>Split or Steal? Cooperative Behavior When the Stakes Are Large</a:t>
            </a:r>
            <a:r>
              <a:rPr lang="en-US" sz="1600" dirty="0">
                <a:solidFill>
                  <a:schemeClr val="tx1"/>
                </a:solidFill>
              </a:rPr>
              <a:t>,”  2/19/11.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9779CC-768A-2C5C-1103-EB2CAB95D9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213286"/>
              </p:ext>
            </p:extLst>
          </p:nvPr>
        </p:nvGraphicFramePr>
        <p:xfrm>
          <a:off x="381000" y="1901726"/>
          <a:ext cx="6448172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5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5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75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Split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Steal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Female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163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142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305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Male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140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129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269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303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271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n=574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5F4668-7307-96B1-A4BE-19FC86607C86}"/>
                  </a:ext>
                </a:extLst>
              </p:cNvPr>
              <p:cNvSpPr txBox="1"/>
              <p:nvPr/>
            </p:nvSpPr>
            <p:spPr>
              <a:xfrm>
                <a:off x="381000" y="4319647"/>
                <a:ext cx="4953000" cy="1587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dirty="0"/>
                  <a:t>Proportion choosing to split</a:t>
                </a:r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Females: 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163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305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=0.534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Males:   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140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269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0.5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2400" dirty="0"/>
                  <a:t> 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05F4668-7307-96B1-A4BE-19FC86607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319647"/>
                <a:ext cx="4953000" cy="1587871"/>
              </a:xfrm>
              <a:prstGeom prst="rect">
                <a:avLst/>
              </a:prstGeom>
              <a:blipFill>
                <a:blip r:embed="rId7"/>
                <a:stretch>
                  <a:fillRect l="-1970" t="-3077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1BD4FCF-D8D0-11AE-972C-4C79659FD36E}"/>
              </a:ext>
            </a:extLst>
          </p:cNvPr>
          <p:cNvSpPr txBox="1"/>
          <p:nvPr/>
        </p:nvSpPr>
        <p:spPr>
          <a:xfrm>
            <a:off x="4930302" y="4350652"/>
            <a:ext cx="4191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Can we conclude from the information in this sample that females are more likely to split than males?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33250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build="p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8123714-FAC4-57C4-FAF1-E8795CC1812B}"/>
              </a:ext>
            </a:extLst>
          </p:cNvPr>
          <p:cNvSpPr txBox="1">
            <a:spLocks/>
          </p:cNvSpPr>
          <p:nvPr/>
        </p:nvSpPr>
        <p:spPr>
          <a:xfrm>
            <a:off x="495300" y="152400"/>
            <a:ext cx="7886700" cy="685800"/>
          </a:xfrm>
          <a:prstGeom prst="rect">
            <a:avLst/>
          </a:prstGeom>
          <a:solidFill>
            <a:srgbClr val="FFFF99"/>
          </a:solidFill>
          <a:ln w="28575">
            <a:solidFill>
              <a:srgbClr val="C00000"/>
            </a:solidFill>
          </a:ln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>
                <a:solidFill>
                  <a:srgbClr val="C00000"/>
                </a:solidFill>
                <a:latin typeface="+mj-lt"/>
              </a:rPr>
              <a:t>Example: Split or Steal?</a:t>
            </a:r>
            <a:endParaRPr lang="en-US" sz="4000" b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B786F5-BEDA-EA37-2939-F8FB51CD6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10259"/>
            <a:ext cx="7544375" cy="48374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97BA88-EFDD-EE81-B39B-F2D657AAA691}"/>
              </a:ext>
            </a:extLst>
          </p:cNvPr>
          <p:cNvSpPr txBox="1"/>
          <p:nvPr/>
        </p:nvSpPr>
        <p:spPr>
          <a:xfrm>
            <a:off x="685800" y="5842876"/>
            <a:ext cx="82074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This sample does not provide convincing evidence that females are more likely to split than males. </a:t>
            </a:r>
          </a:p>
        </p:txBody>
      </p:sp>
    </p:spTree>
    <p:extLst>
      <p:ext uri="{BB962C8B-B14F-4D97-AF65-F5344CB8AC3E}">
        <p14:creationId xmlns:p14="http://schemas.microsoft.com/office/powerpoint/2010/main" val="382822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97813-F974-8148-6E1C-2A797857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30DDE17-E189-B837-A913-16092C475755}"/>
              </a:ext>
            </a:extLst>
          </p:cNvPr>
          <p:cNvSpPr txBox="1">
            <a:spLocks/>
          </p:cNvSpPr>
          <p:nvPr/>
        </p:nvSpPr>
        <p:spPr>
          <a:xfrm>
            <a:off x="495300" y="152400"/>
            <a:ext cx="7886700" cy="685800"/>
          </a:xfrm>
          <a:prstGeom prst="rect">
            <a:avLst/>
          </a:prstGeom>
          <a:solidFill>
            <a:srgbClr val="FFFF99"/>
          </a:solidFill>
          <a:ln w="28575">
            <a:solidFill>
              <a:srgbClr val="C00000"/>
            </a:solidFill>
          </a:ln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>
                <a:solidFill>
                  <a:srgbClr val="C00000"/>
                </a:solidFill>
                <a:latin typeface="+mj-lt"/>
              </a:rPr>
              <a:t>Example: Split or Steal?</a:t>
            </a:r>
            <a:endParaRPr lang="en-US" sz="4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1A1A2C-B4CF-57E7-A2D7-85AAA8869688}"/>
              </a:ext>
            </a:extLst>
          </p:cNvPr>
          <p:cNvSpPr txBox="1"/>
          <p:nvPr/>
        </p:nvSpPr>
        <p:spPr>
          <a:xfrm>
            <a:off x="609600" y="946015"/>
            <a:ext cx="81915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We also have data on age.  What do you think:</a:t>
            </a:r>
          </a:p>
          <a:p>
            <a:r>
              <a:rPr lang="en-US" sz="2800" dirty="0"/>
              <a:t>Are people younger than 40 less likely to split than people older than 40?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06973D-891E-5581-EDFA-D12E03932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283628"/>
              </p:ext>
            </p:extLst>
          </p:nvPr>
        </p:nvGraphicFramePr>
        <p:xfrm>
          <a:off x="3476016" y="1905000"/>
          <a:ext cx="487680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Split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Steal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Under</a:t>
                      </a:r>
                      <a:r>
                        <a:rPr lang="en-US" sz="2400" b="1" baseline="0" dirty="0">
                          <a:solidFill>
                            <a:schemeClr val="tx1"/>
                          </a:solidFill>
                        </a:rPr>
                        <a:t> 40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187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195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382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Over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303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271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n=574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E53EE8A-1713-F537-4809-FDAAFF063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656270"/>
            <a:ext cx="7419975" cy="321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2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F0A91-5E76-C49D-0088-12C37A139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390D873-0BCC-311C-82B8-383DE6F5D7EB}"/>
              </a:ext>
            </a:extLst>
          </p:cNvPr>
          <p:cNvSpPr txBox="1">
            <a:spLocks/>
          </p:cNvSpPr>
          <p:nvPr/>
        </p:nvSpPr>
        <p:spPr>
          <a:xfrm>
            <a:off x="495300" y="152400"/>
            <a:ext cx="7886700" cy="685800"/>
          </a:xfrm>
          <a:prstGeom prst="rect">
            <a:avLst/>
          </a:prstGeom>
          <a:solidFill>
            <a:srgbClr val="FFFF99"/>
          </a:solidFill>
          <a:ln w="28575">
            <a:solidFill>
              <a:srgbClr val="C00000"/>
            </a:solidFill>
          </a:ln>
        </p:spPr>
        <p:txBody>
          <a:bodyPr/>
          <a:lstStyle/>
          <a:p>
            <a:pPr lvl="0" algn="ctr">
              <a:spcBef>
                <a:spcPct val="0"/>
              </a:spcBef>
              <a:defRPr/>
            </a:pPr>
            <a:r>
              <a:rPr lang="en-US" sz="4400" b="1" dirty="0">
                <a:solidFill>
                  <a:srgbClr val="C00000"/>
                </a:solidFill>
                <a:latin typeface="+mj-lt"/>
              </a:rPr>
              <a:t>Example: Split or Steal?</a:t>
            </a:r>
            <a:endParaRPr lang="en-US" sz="4000" b="1" dirty="0">
              <a:solidFill>
                <a:srgbClr val="C00000"/>
              </a:solidFill>
              <a:latin typeface="+mj-lt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75F935B-32D8-A936-9A68-4B78DCE0B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1066800"/>
            <a:ext cx="7543800" cy="5370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8420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Confidence Intervals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4D4DD-A247-4F14-4B8A-0D714623428B}"/>
              </a:ext>
            </a:extLst>
          </p:cNvPr>
          <p:cNvSpPr txBox="1"/>
          <p:nvPr/>
        </p:nvSpPr>
        <p:spPr>
          <a:xfrm>
            <a:off x="914400" y="1674674"/>
            <a:ext cx="7162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/>
              <a:t>How can we estimate the variability (accuracy) of an estimator  when we only have </a:t>
            </a:r>
            <a:r>
              <a:rPr lang="en-US" sz="3600" i="1" u="sng" dirty="0"/>
              <a:t>one</a:t>
            </a:r>
            <a:r>
              <a:rPr lang="en-US" sz="3600" i="1" dirty="0"/>
              <a:t> sample?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CD6A0-D964-C6D3-5007-4CEC383A3E0D}"/>
              </a:ext>
            </a:extLst>
          </p:cNvPr>
          <p:cNvSpPr txBox="1"/>
          <p:nvPr/>
        </p:nvSpPr>
        <p:spPr>
          <a:xfrm>
            <a:off x="800100" y="3765429"/>
            <a:ext cx="7391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Traditional: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Assume a distribution and use a formula to compute a standard error.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75ECF9-7AFA-E8FA-E8F2-9FD7D5E53397}"/>
              </a:ext>
            </a:extLst>
          </p:cNvPr>
          <p:cNvSpPr txBox="1"/>
          <p:nvPr/>
        </p:nvSpPr>
        <p:spPr>
          <a:xfrm>
            <a:off x="914400" y="5055965"/>
            <a:ext cx="7391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SBI: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Generate a distribution using simulation from the original sample. </a:t>
            </a:r>
          </a:p>
        </p:txBody>
      </p:sp>
    </p:spTree>
    <p:extLst>
      <p:ext uri="{BB962C8B-B14F-4D97-AF65-F5344CB8AC3E}">
        <p14:creationId xmlns:p14="http://schemas.microsoft.com/office/powerpoint/2010/main" val="158870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76200"/>
            <a:ext cx="77724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Example: Mustang Prices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834" y="2237108"/>
            <a:ext cx="82452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Data</a:t>
            </a:r>
            <a:r>
              <a:rPr lang="en-US" sz="2800" dirty="0">
                <a:solidFill>
                  <a:schemeClr val="tx1"/>
                </a:solidFill>
              </a:rPr>
              <a:t>: Prices (in $1,000’s)  for a random sample of </a:t>
            </a:r>
            <a:r>
              <a:rPr lang="en-US" sz="2800" i="1" dirty="0">
                <a:solidFill>
                  <a:schemeClr val="tx1"/>
                </a:solidFill>
              </a:rPr>
              <a:t>n=30</a:t>
            </a:r>
            <a:r>
              <a:rPr lang="en-US" sz="2800" dirty="0">
                <a:solidFill>
                  <a:schemeClr val="tx1"/>
                </a:solidFill>
              </a:rPr>
              <a:t> Mustangs chosen at a website (like cars.com)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401" y="1145004"/>
            <a:ext cx="8839199" cy="1077218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i="1" dirty="0">
                <a:solidFill>
                  <a:schemeClr val="tx1"/>
                </a:solidFill>
              </a:rPr>
              <a:t>What’s the mean price for used Mustang cars offered for sale online? </a:t>
            </a:r>
          </a:p>
        </p:txBody>
      </p:sp>
      <p:pic>
        <p:nvPicPr>
          <p:cNvPr id="7" name="Picture 40" descr="http://t3.gstatic.com/images?q=tbn:ANd9GcTIJudnj3-QOH6Je9ic9YrCn8v9EnOTyvwdwiljWMmB3eo9m-S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850" y="0"/>
            <a:ext cx="1617407" cy="121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http://www.alldiecast.us/images_miniatures/147195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342"/>
            <a:ext cx="1512097" cy="90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3276601" y="3250784"/>
            <a:ext cx="5748000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</a:rPr>
              <a:t>Best estimate for the mean price of used Mustangs</a:t>
            </a:r>
            <a:r>
              <a:rPr kumimoji="0" lang="en-US" sz="2800" b="0" i="0" u="none" strike="noStrike" kern="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</a:rPr>
              <a:t>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</a:rPr>
              <a:t>is $27,700, but how accurate is that estimate?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32BFB4-8A36-C294-821E-9E4A2A062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34" y="3191215"/>
            <a:ext cx="3048000" cy="23145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DE1998-69C2-0F16-621D-CC2F6DF40DEE}"/>
              </a:ext>
            </a:extLst>
          </p:cNvPr>
          <p:cNvSpPr txBox="1"/>
          <p:nvPr/>
        </p:nvSpPr>
        <p:spPr>
          <a:xfrm>
            <a:off x="304800" y="5712996"/>
            <a:ext cx="8839200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Key concept</a:t>
            </a:r>
            <a:r>
              <a:rPr lang="en-US" sz="2800" dirty="0"/>
              <a:t>:  How much can we expect means for samples of size 30 to vary just by random chance?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B44D5-1EB3-586C-13AA-7BD627A3A1E6}"/>
              </a:ext>
            </a:extLst>
          </p:cNvPr>
          <p:cNvSpPr txBox="1"/>
          <p:nvPr/>
        </p:nvSpPr>
        <p:spPr>
          <a:xfrm>
            <a:off x="3142034" y="4719684"/>
            <a:ext cx="6019800" cy="954107"/>
          </a:xfrm>
          <a:prstGeom prst="rect">
            <a:avLst/>
          </a:prstGeom>
          <a:solidFill>
            <a:srgbClr val="FFFF99"/>
          </a:solidFill>
          <a:ln>
            <a:solidFill>
              <a:srgbClr val="FFFF99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Goal:</a:t>
            </a:r>
            <a:r>
              <a:rPr lang="en-US" sz="2800" dirty="0"/>
              <a:t> Find an interval that is likely to contain the mean price for all Mustangs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87BE1A6-2D1E-42B6-FDE8-A57FB1A640E2}"/>
              </a:ext>
            </a:extLst>
          </p:cNvPr>
          <p:cNvCxnSpPr>
            <a:cxnSpLocks/>
          </p:cNvCxnSpPr>
          <p:nvPr/>
        </p:nvCxnSpPr>
        <p:spPr>
          <a:xfrm flipH="1">
            <a:off x="1676400" y="3581400"/>
            <a:ext cx="160020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90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6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97DD4-80FA-08BC-A44C-0AC855E16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0A8FD-A8BF-A2F2-8951-244E27E03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539" y="462988"/>
            <a:ext cx="7772400" cy="1470025"/>
          </a:xfrm>
        </p:spPr>
        <p:txBody>
          <a:bodyPr>
            <a:normAutofit/>
          </a:bodyPr>
          <a:lstStyle/>
          <a:p>
            <a:r>
              <a:rPr lang="en-US" sz="6600" b="1" dirty="0"/>
              <a:t>Bootstrapping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10B643-72D2-0A75-F65E-4E994D927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31"/>
            <a:ext cx="1447800" cy="1992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099955-482E-866A-F1EB-7EED2F6345BF}"/>
              </a:ext>
            </a:extLst>
          </p:cNvPr>
          <p:cNvSpPr txBox="1"/>
          <p:nvPr/>
        </p:nvSpPr>
        <p:spPr>
          <a:xfrm>
            <a:off x="1447800" y="2931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Brad </a:t>
            </a:r>
            <a:r>
              <a:rPr lang="en-US" dirty="0" err="1">
                <a:solidFill>
                  <a:schemeClr val="tx1"/>
                </a:solidFill>
              </a:rPr>
              <a:t>Efron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Stanford University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D176494F-2A20-A0C8-D0E9-D84001B12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9677" y="2931"/>
            <a:ext cx="1737946" cy="2044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59D8F8F-85B3-4FD3-BA9E-238FC634C3F7}"/>
              </a:ext>
            </a:extLst>
          </p:cNvPr>
          <p:cNvSpPr/>
          <p:nvPr/>
        </p:nvSpPr>
        <p:spPr>
          <a:xfrm>
            <a:off x="353972" y="2286000"/>
            <a:ext cx="833282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How can </a:t>
            </a:r>
            <a:r>
              <a:rPr lang="en-US" sz="3200" dirty="0"/>
              <a:t>we measure the variability of a sample statistic using ONLY the data in that one sample?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3E0F39-D72C-9796-6453-9B4770039DA9}"/>
              </a:ext>
            </a:extLst>
          </p:cNvPr>
          <p:cNvSpPr/>
          <p:nvPr/>
        </p:nvSpPr>
        <p:spPr>
          <a:xfrm>
            <a:off x="152400" y="3621741"/>
            <a:ext cx="8763000" cy="2477601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</a:pPr>
            <a:r>
              <a:rPr lang="en-US" sz="2800" dirty="0">
                <a:solidFill>
                  <a:prstClr val="black"/>
                </a:solidFill>
                <a:latin typeface="Arial"/>
                <a:cs typeface="Arial"/>
              </a:rPr>
              <a:t>What is our best guess at the population, given just the sample data?</a:t>
            </a:r>
          </a:p>
          <a:p>
            <a:pPr marL="742950" lvl="1" indent="-285750">
              <a:spcAft>
                <a:spcPts val="1200"/>
              </a:spcAft>
              <a:buFont typeface="Arial" pitchFamily="34" charset="0"/>
              <a:buChar char="–"/>
            </a:pPr>
            <a:r>
              <a:rPr lang="en-US" sz="2800" i="1" dirty="0">
                <a:solidFill>
                  <a:prstClr val="black"/>
                </a:solidFill>
                <a:latin typeface="Arial"/>
                <a:cs typeface="Arial"/>
              </a:rPr>
              <a:t>The sample itself! (</a:t>
            </a:r>
            <a:r>
              <a:rPr lang="en-US" sz="2800" dirty="0">
                <a:solidFill>
                  <a:prstClr val="black"/>
                </a:solidFill>
                <a:latin typeface="Arial"/>
                <a:cs typeface="Arial"/>
              </a:rPr>
              <a:t>or many copies of the sample</a:t>
            </a:r>
            <a:r>
              <a:rPr lang="en-US" sz="2800" i="1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</a:p>
          <a:p>
            <a:pPr lvl="0">
              <a:spcAft>
                <a:spcPts val="1200"/>
              </a:spcAft>
            </a:pPr>
            <a:r>
              <a:rPr lang="en-US" sz="2800" u="sng" dirty="0">
                <a:solidFill>
                  <a:prstClr val="black"/>
                </a:solidFill>
                <a:latin typeface="Arial"/>
                <a:cs typeface="Arial"/>
              </a:rPr>
              <a:t>Key idea</a:t>
            </a:r>
            <a:r>
              <a:rPr lang="en-US" sz="2800" dirty="0">
                <a:solidFill>
                  <a:prstClr val="black"/>
                </a:solidFill>
                <a:latin typeface="Arial"/>
                <a:cs typeface="Arial"/>
              </a:rPr>
              <a:t>: Draw new samples of the same sample size repeatedly from the sample data (</a:t>
            </a:r>
            <a:r>
              <a:rPr lang="is-IS" sz="2800" i="1" dirty="0">
                <a:solidFill>
                  <a:prstClr val="black"/>
                </a:solidFill>
                <a:latin typeface="Arial"/>
                <a:cs typeface="Arial"/>
              </a:rPr>
              <a:t>with replacement!)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A823F-418B-2B60-0C56-8DCDE0DB7DE8}"/>
              </a:ext>
            </a:extLst>
          </p:cNvPr>
          <p:cNvSpPr txBox="1"/>
          <p:nvPr/>
        </p:nvSpPr>
        <p:spPr>
          <a:xfrm>
            <a:off x="2057400" y="6019800"/>
            <a:ext cx="426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(bootstrap samples)</a:t>
            </a:r>
          </a:p>
        </p:txBody>
      </p:sp>
    </p:spTree>
    <p:extLst>
      <p:ext uri="{BB962C8B-B14F-4D97-AF65-F5344CB8AC3E}">
        <p14:creationId xmlns:p14="http://schemas.microsoft.com/office/powerpoint/2010/main" val="315224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4" grpId="0" uiExpand="1" build="p" animBg="1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819459"/>
            <a:ext cx="1447800" cy="1737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76200" y="2724720"/>
            <a:ext cx="19155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Original Sample (</a:t>
            </a:r>
            <a:r>
              <a:rPr lang="en-US" sz="2400" dirty="0">
                <a:solidFill>
                  <a:schemeClr val="tx1"/>
                </a:solidFill>
              </a:rPr>
              <a:t>n=6)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5133" y="3945438"/>
            <a:ext cx="564134" cy="961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2871" y="3956122"/>
            <a:ext cx="636458" cy="940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22933" y="3934753"/>
            <a:ext cx="564134" cy="961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9992" y="5051233"/>
            <a:ext cx="809256" cy="867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864432" y="5025671"/>
            <a:ext cx="571542" cy="867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47669" y="5034004"/>
            <a:ext cx="809256" cy="867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739267" y="57834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tx1"/>
                </a:solidFill>
              </a:rPr>
              <a:t>Finding a Bootstrap Sample</a:t>
            </a:r>
            <a:endParaRPr lang="en-US" sz="3600" dirty="0">
              <a:solidFill>
                <a:schemeClr val="tx1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787443" y="805650"/>
            <a:ext cx="6977529" cy="6955278"/>
            <a:chOff x="2787444" y="820333"/>
            <a:chExt cx="6977529" cy="6955278"/>
          </a:xfrm>
        </p:grpSpPr>
        <p:grpSp>
          <p:nvGrpSpPr>
            <p:cNvPr id="4" name="Group 3"/>
            <p:cNvGrpSpPr/>
            <p:nvPr/>
          </p:nvGrpSpPr>
          <p:grpSpPr>
            <a:xfrm>
              <a:off x="2787444" y="820333"/>
              <a:ext cx="6977529" cy="5275773"/>
              <a:chOff x="2787444" y="820333"/>
              <a:chExt cx="6977529" cy="5275773"/>
            </a:xfrm>
          </p:grpSpPr>
          <p:pic>
            <p:nvPicPr>
              <p:cNvPr id="2" name="Picture 2"/>
              <p:cNvPicPr>
                <a:picLocks noChangeAspect="1" noChangeArrowheads="1"/>
              </p:cNvPicPr>
              <p:nvPr/>
            </p:nvPicPr>
            <p:blipFill rotWithShape="1">
              <a:blip r:embed="rId8" cstate="print"/>
              <a:srcRect l="14912"/>
              <a:stretch/>
            </p:blipFill>
            <p:spPr bwMode="auto">
              <a:xfrm>
                <a:off x="2787444" y="831729"/>
                <a:ext cx="5413887" cy="52643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" name="Picture 2"/>
              <p:cNvPicPr>
                <a:picLocks noChangeAspect="1" noChangeArrowheads="1"/>
              </p:cNvPicPr>
              <p:nvPr/>
            </p:nvPicPr>
            <p:blipFill rotWithShape="1">
              <a:blip r:embed="rId8" cstate="print"/>
              <a:srcRect l="14912" r="56799"/>
              <a:stretch/>
            </p:blipFill>
            <p:spPr bwMode="auto">
              <a:xfrm>
                <a:off x="7965050" y="820333"/>
                <a:ext cx="1799923" cy="52643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8" name="Group 17"/>
            <p:cNvGrpSpPr/>
            <p:nvPr/>
          </p:nvGrpSpPr>
          <p:grpSpPr>
            <a:xfrm>
              <a:off x="2787444" y="5916585"/>
              <a:ext cx="6977528" cy="1859026"/>
              <a:chOff x="1098603" y="4604868"/>
              <a:chExt cx="6977528" cy="1859026"/>
            </a:xfrm>
          </p:grpSpPr>
          <p:pic>
            <p:nvPicPr>
              <p:cNvPr id="19" name="Picture 2"/>
              <p:cNvPicPr>
                <a:picLocks noChangeAspect="1" noChangeArrowheads="1"/>
              </p:cNvPicPr>
              <p:nvPr/>
            </p:nvPicPr>
            <p:blipFill rotWithShape="1">
              <a:blip r:embed="rId8" cstate="print"/>
              <a:srcRect l="14912" t="64749" r="3713"/>
              <a:stretch/>
            </p:blipFill>
            <p:spPr bwMode="auto">
              <a:xfrm>
                <a:off x="1098603" y="4608155"/>
                <a:ext cx="5177606" cy="18557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" name="Picture 2"/>
              <p:cNvPicPr>
                <a:picLocks noChangeAspect="1" noChangeArrowheads="1"/>
              </p:cNvPicPr>
              <p:nvPr/>
            </p:nvPicPr>
            <p:blipFill rotWithShape="1">
              <a:blip r:embed="rId8" cstate="print"/>
              <a:srcRect l="14912" t="64966" r="56799"/>
              <a:stretch/>
            </p:blipFill>
            <p:spPr bwMode="auto">
              <a:xfrm>
                <a:off x="6276208" y="4604868"/>
                <a:ext cx="1799923" cy="18443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  <p:sp>
        <p:nvSpPr>
          <p:cNvPr id="5" name="TextBox 4"/>
          <p:cNvSpPr txBox="1"/>
          <p:nvPr/>
        </p:nvSpPr>
        <p:spPr>
          <a:xfrm>
            <a:off x="3377382" y="4739822"/>
            <a:ext cx="548762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A simulated “population” to sample from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267" y="6188431"/>
            <a:ext cx="9197197" cy="46166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Bootstrap  Sample:   (sample </a:t>
            </a:r>
            <a:r>
              <a:rPr lang="en-US" sz="2400" i="1" dirty="0">
                <a:solidFill>
                  <a:schemeClr val="tx1"/>
                </a:solidFill>
              </a:rPr>
              <a:t>with replacement </a:t>
            </a:r>
            <a:r>
              <a:rPr lang="en-US" sz="2400" dirty="0">
                <a:solidFill>
                  <a:schemeClr val="tx1"/>
                </a:solidFill>
              </a:rPr>
              <a:t>from the original sample)</a:t>
            </a:r>
          </a:p>
        </p:txBody>
      </p:sp>
    </p:spTree>
    <p:extLst>
      <p:ext uri="{BB962C8B-B14F-4D97-AF65-F5344CB8AC3E}">
        <p14:creationId xmlns:p14="http://schemas.microsoft.com/office/powerpoint/2010/main" val="297403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924 -0.45393 C 0.08611 -0.43703 0.09097 -0.46157 0.08507 -0.4412 C 0.08264 -0.43287 0.08247 -0.42939 0.07865 -0.42129 C 0.07639 -0.40879 0.07049 -0.40069 0.06701 -0.38865 C 0.06424 -0.37916 0.06163 -0.36875 0.05747 -0.36018 C 0.0559 -0.35092 0.05538 -0.34097 0.05312 -0.33194 C 0.05174 -0.32638 0.05 -0.32199 0.04896 -0.3162 C 0.04687 -0.28356 0.03733 -0.25324 0.03194 -0.22129 C 0.02483 -0.17986 0.0309 -0.21713 0.0276 -0.19143 C 0.02691 -0.1868 0.02622 -0.18194 0.02552 -0.17731 C 0.02517 -0.175 0.02448 -0.17013 0.02448 -0.17013 C 0.02378 -0.1574 0.02222 -0.15069 0.02118 -0.13912 C 0.01997 -0.12731 0.02066 -0.11481 0.01806 -0.10347 C 0.01701 -0.08726 0.01493 -0.07176 0.01059 -0.05671 C 0.00972 -0.04467 0.00799 -0.03148 0.00521 -0.0199 C 0.00451 -0.01713 2.77778E-7 -0.00185 2.77778E-7 -3.7037E-6 " pathEditMode="relative" ptsTypes="fffffffffffffffA">
                                      <p:cBhvr>
                                        <p:cTn id="2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37 -0.33796 C 0.0519 -0.32361 0.05086 -0.30903 0.04583 -0.29537 C 0.04374 -0.27569 0.0427 -0.25509 0.0394 -0.23565 C 0.03836 -0.22963 0.03767 -0.22338 0.03628 -0.21736 C 0.03541 -0.21342 0.03298 -0.20602 0.03298 -0.20602 C 0.03194 -0.19815 0.03211 -0.19004 0.02881 -0.18333 C 0.02638 -0.16713 0.02083 -0.13588 0.01492 -0.12222 C 0.01162 -0.10463 0.00728 -0.08588 0.00103 -0.06967 C 0.00069 -0.06782 0.00051 -0.06597 -5.83333E-6 -0.06412 C -0.00053 -0.0625 -0.00174 -0.06157 -0.00209 -0.05995 C -0.00417 -0.05231 -0.00504 -0.0456 -0.00851 -0.03866 C -0.01147 -0.01852 -0.01042 -0.0162 -0.00956 0.0125 C -0.00713 0.01204 -0.00417 0.0132 -0.00209 0.01111 C -0.0007 0.00972 -0.00157 0.00625 -0.00105 0.00394 C -0.0007 0.00255 -5.83333E-6 -0.00023 -5.83333E-6 -0.00023 " pathEditMode="relative" ptsTypes="ffffffffffffffA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194 -0.4456 C -0.07847 -0.43865 -0.07517 -0.43171 -0.07239 -0.4243 C -0.07013 -0.41828 -0.071 -0.41527 -0.06701 -0.41018 C -0.06579 -0.40416 -0.06336 -0.39838 -0.06058 -0.39328 C -0.0585 -0.38171 -0.05381 -0.37037 -0.05104 -0.35902 C -0.04565 -0.33726 -0.04305 -0.31504 -0.03611 -0.29398 C -0.0335 -0.27546 -0.02777 -0.25833 -0.02447 -0.24004 C -0.02222 -0.22801 -0.02083 -0.21481 -0.01805 -0.20301 C -0.01683 -0.17523 -0.0184 -0.14444 -0.0118 -0.11805 C -0.01024 -0.10393 -0.0085 -0.08958 -0.00642 -0.07546 C -0.00572 -0.04791 -0.00624 -0.04282 -0.00312 -0.02291 C -0.00243 -0.01875 -0.00156 -0.01435 -0.00104 -0.01018 C -0.00052 -0.00694 8.05556E-6 -0.00023 8.05556E-6 -0.00023 " pathEditMode="relative" ptsTypes="ffffffffffffA">
                                      <p:cBhvr>
                                        <p:cTn id="3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969 -0.50069 C 0.025 -0.41782 0.03438 -0.33287 0.02431 -0.25092 C 0.02396 -0.22014 0.02396 -0.18958 0.02326 -0.15879 C 0.02309 -0.14977 0.02014 -0.13171 0.02014 -0.13171 C 0.0191 -0.11342 0.01649 -0.0956 0.01267 -0.07801 C 0.01094 -0.07014 0.00938 -0.05995 0.00521 -0.0537 C 0.00451 -0.04838 0.00417 -0.04467 0.00313 -0.03958 C 0.00243 -0.0368 0.00104 -0.03102 0.00104 -0.03102 C -0.00069 -0.01412 1.11111E-6 -0.0243 1.11111E-6 -4.44444E-6 " pathEditMode="relative" ptsTypes="ffffffffA">
                                      <p:cBhvr>
                                        <p:cTn id="4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851 -0.49375 C -0.05643 -0.48704 -0.05591 -0.48033 -0.05365 -0.47384 C -0.04966 -0.44352 -0.05 -0.41065 -0.04184 -0.38148 C -0.03976 -0.36713 -0.03542 -0.35255 -0.03108 -0.33889 C -0.02934 -0.32778 -0.02587 -0.31759 -0.02257 -0.30741 C -0.02118 -0.29259 -0.01789 -0.27454 -0.01302 -0.26065 C -0.01094 -0.25509 -0.01094 -0.25 -0.00834 -0.24468 C -0.00712 -0.23634 -0.00591 -0.23125 -0.00348 -0.22361 C -0.00174 -0.21296 0.00086 -0.20139 0.00382 -0.19097 C 0.00659 -0.12708 0.00746 -0.06181 0.00746 0.00139 " pathEditMode="relative" rAng="0" ptsTypes="fffffffffA">
                                      <p:cBhvr>
                                        <p:cTn id="4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9" y="24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895 -0.59005 C -0.04322 -0.58241 -0.03576 -0.57732 -0.02968 -0.57014 C -0.02656 -0.56644 -0.02152 -0.56019 -0.01909 -0.55464 C -0.01493 -0.54561 -0.01927 -0.55163 -0.01475 -0.54607 C -0.01319 -0.53982 -0.01093 -0.53473 -0.0085 -0.52894 C -0.00729 -0.52084 -0.00468 -0.51436 -0.00312 -0.50626 C -0.00191 -0.50024 -0.00156 -0.49399 2.77778E-7 -0.48797 C 0.00035 -0.39422 -0.00104 -0.30047 0.00226 -0.20695 C 0.00452 -0.14167 0.00105 -0.17362 0.00434 -0.14607 C 0.004 -0.10302 0.004 -0.05996 0.0033 -0.0169 C 0.0033 -0.01598 2.77778E-7 0.00254 2.77778E-7 -6.2963E-6 " pathEditMode="relative" ptsTypes="ffffffffffA">
                                      <p:cBhvr>
                                        <p:cTn id="5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52" descr="http://t2.gstatic.com/images?q=tbn:ANd9GcS_-j4gzFfnezy7FARomzB1eRF905JKWsh2LValrgLcQzF21U3L">
            <a:extLst>
              <a:ext uri="{FF2B5EF4-FFF2-40B4-BE49-F238E27FC236}">
                <a16:creationId xmlns:a16="http://schemas.microsoft.com/office/drawing/2014/main" id="{27537219-C68B-DD86-306A-546A14E3B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1077" y="3361651"/>
            <a:ext cx="91440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10" name="Picture 42" descr="http://t2.gstatic.com/images?q=tbn:ANd9GcSqEKMFBuEMqbZs54DN-kk17Ir8EqP6MsqC8v4nTUJcYVRbKOp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212" y="1361475"/>
            <a:ext cx="91440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60109" y="152400"/>
            <a:ext cx="3619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Original Sample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5800" y="182727"/>
            <a:ext cx="3619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Bootstrap Sample</a:t>
            </a:r>
          </a:p>
        </p:txBody>
      </p:sp>
      <p:pic>
        <p:nvPicPr>
          <p:cNvPr id="32" name="Picture 48" descr="http://t2.gstatic.com/images?q=tbn:ANd9GcSSQKpgGNEOCmV82t22Xu24dqpQgKcME4SlwN7-S2NTyz20aZC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212" y="737175"/>
            <a:ext cx="914400" cy="68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0" descr="http://1.bp.blogspot.com/_lM6ADTK51GM/SyV1y_V6-XI/AAAAAAAAB4Y/6-muJS9ZQcE/s400/Shelby-Collectibles-Diecast-7AE01-2008-Ford-Mustang-Shelby-GT500-Convertible-40th-Anniversary-1-18-Scale-Black-Silver-00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212" y="1958212"/>
            <a:ext cx="914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8" descr="http://www.cartuningparts.co.uk/img/autoart-parnelli-jones-saleen-mustang-orange-15-118-scale-diecast-model-car_577632_250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212" y="2520967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" descr="http://cars.minimodelshop.co.uk/8025701F0054F3AD/ls/FranklinMint-B11F857/$File/ford-mustang-california-special-1968-diecast-model-car-franklin-mint-b11f857-p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475" y="3140640"/>
            <a:ext cx="914400" cy="692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0" descr="http://t3.gstatic.com/images?q=tbn:ANd9GcTIJudnj3-QOH6Je9ic9YrCn8v9EnOTyvwdwiljWMmB3eo9m-S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679" y="3678669"/>
            <a:ext cx="914400" cy="684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4" descr="http://t2.gstatic.com/images?q=tbn:ANd9GcTAC-vgwaoOMI9l4uNB8OrruzTAFVQdA8pvNa-U0ciDfwffI688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212" y="4189181"/>
            <a:ext cx="914400" cy="691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http://site.diecastblast.com/diecastblast/products/dc2007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212" y="4789448"/>
            <a:ext cx="914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6" descr="http://www.fallingpixel.com/products/9482/mains/000-3d-model-65Mustang08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212" y="5410809"/>
            <a:ext cx="914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0" descr="http://1.bp.blogspot.com/_lM6ADTK51GM/SyV1y_V6-XI/AAAAAAAAB4Y/6-muJS9ZQcE/s400/Shelby-Collectibles-Diecast-7AE01-2008-Ford-Mustang-Shelby-GT500-Convertible-40th-Anniversary-1-18-Scale-Black-Silver-00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612" y="677897"/>
            <a:ext cx="914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" descr="http://4.bp.blogspot.com/_lTURvvdsOj8/TNAxDTZeGNI/AAAAAAAAAXo/u3uZB4y8QkI/s1600/1999+Ford+Mustang+GT+Metallic+Red_3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612" y="1354611"/>
            <a:ext cx="914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http://2.bp.blogspot.com/_lTURvvdsOj8/TNAwTsWk-eI/AAAAAAAAAXg/UTXdEsuWf2U/s1600/1999+Ford+Mustang+GT+Metallic+Red_1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079" y="1993547"/>
            <a:ext cx="914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6" descr="http://t1.gstatic.com/images?q=tbn:ANd9GcRYWsmVaFPn96zwSbUsDeCGRpIT6YCruwkZrk8H7FKPCuxVCiM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079" y="2541932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36" descr="http://t0.gstatic.com/images?q=tbn:ANd9GcSwbW6H4BQjr2B5QU1G22iyuvcl1b-3cUKPFO-UYZFzITg6nf0MuQ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906387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32" descr="http://cdn102.iofferphoto.com/img/item/517/266/641/l_XEQV1970-ford-mustang-boss-429-blue-diecast-model-car-1-24.jp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560848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32" descr="http://cdn102.iofferphoto.com/img/item/517/266/641/l_XEQV1970-ford-mustang-boss-429-blue-diecast-model-car-1-24.jp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727" y="3221469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4" descr="http://t2.gstatic.com/images?q=tbn:ANd9GcTAC-vgwaoOMI9l4uNB8OrruzTAFVQdA8pvNa-U0ciDfwffI688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288531"/>
            <a:ext cx="914400" cy="691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2" descr="http://www.alldiecast.us/images_miniatures/138998.jp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677897"/>
            <a:ext cx="914400" cy="549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0" descr="http://t3.gstatic.com/images?q=tbn:ANd9GcTVGq6Ttf8DiwB_IKGRABzbn1uQU55PcCNzefeylR4SJwy84X_Nbg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5851" y="1243737"/>
            <a:ext cx="914400" cy="68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32" descr="http://cdn102.iofferphoto.com/img/item/517/266/641/l_XEQV1970-ford-mustang-boss-429-blue-diecast-model-car-1-24.jp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479" y="176841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34" descr="http://dyn-images2.hsni.com/is/image/HomeShoppingNetwork/pd300/revell-1-24-64-1-2-mustang-convertible-model-car-kit%7E6163901w.jpg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012" y="2500454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42" descr="http://t2.gstatic.com/images?q=tbn:ANd9GcSqEKMFBuEMqbZs54DN-kk17Ir8EqP6MsqC8v4nTUJcYVRbKOp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400905"/>
            <a:ext cx="91440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14" descr="http://www.alldiecast.us/images_miniatures/147195.jpg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898" y="3929688"/>
            <a:ext cx="91440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30" descr="http://t1.gstatic.com/images?q=tbn:ANd9GcRuifSjmjV38x6VOUmShqtLYfKry_ve9oSE_SNXpMg4WXhqNqG0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478328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16" descr="http://www.fallingpixel.com/products/9482/mains/000-3d-model-65Mustang08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338072"/>
            <a:ext cx="914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73302" y="6316199"/>
                <a:ext cx="2286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27.70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302" y="6316199"/>
                <a:ext cx="2286000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212080" y="6244605"/>
                <a:ext cx="2286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26.87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0" y="6244605"/>
                <a:ext cx="2286000" cy="5232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439426" y="3844051"/>
            <a:ext cx="4313950" cy="58477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Repeat 1,000’s of times!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AA0E7F-38F4-4F65-66C7-D253E3EAF05E}"/>
              </a:ext>
            </a:extLst>
          </p:cNvPr>
          <p:cNvGrpSpPr/>
          <p:nvPr/>
        </p:nvGrpSpPr>
        <p:grpSpPr>
          <a:xfrm>
            <a:off x="352710" y="654725"/>
            <a:ext cx="3988063" cy="5885737"/>
            <a:chOff x="660137" y="662753"/>
            <a:chExt cx="3988063" cy="5885737"/>
          </a:xfrm>
        </p:grpSpPr>
        <p:grpSp>
          <p:nvGrpSpPr>
            <p:cNvPr id="2" name="Group 5"/>
            <p:cNvGrpSpPr/>
            <p:nvPr/>
          </p:nvGrpSpPr>
          <p:grpSpPr>
            <a:xfrm>
              <a:off x="660137" y="662753"/>
              <a:ext cx="2881367" cy="5885737"/>
              <a:chOff x="660137" y="914400"/>
              <a:chExt cx="2881367" cy="5885737"/>
            </a:xfrm>
          </p:grpSpPr>
          <p:pic>
            <p:nvPicPr>
              <p:cNvPr id="7170" name="Picture 2" descr="http://2.bp.blogspot.com/_lTURvvdsOj8/TNAwTsWk-eI/AAAAAAAAAXg/UTXdEsuWf2U/s1600/1999+Ford+Mustang+GT+Metallic+Red_1.jpg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9102" y="1538231"/>
                <a:ext cx="914400" cy="685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72" name="Picture 4" descr="http://4.bp.blogspot.com/_lTURvvdsOj8/TNAxDTZeGNI/AAAAAAAAAXo/u3uZB4y8QkI/s1600/1999+Ford+Mustang+GT+Metallic+Red_3.jpg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4702" y="1538231"/>
                <a:ext cx="914400" cy="685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74" name="Picture 6" descr="http://site.diecastblast.com/diecastblast/products/dc2007.jpg"/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74537" y="2248657"/>
                <a:ext cx="914400" cy="685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76" name="Picture 8" descr="http://cars.minimodelshop.co.uk/8025701F0054F3AD/ls/FranklinMint-B11F857/$File/ford-mustang-california-special-1968-diecast-model-car-franklin-mint-b11f857-p.jpg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1668" y="2588094"/>
                <a:ext cx="914400" cy="6927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78" name="Picture 10" descr="http://1.bp.blogspot.com/_lM6ADTK51GM/SyV1y_V6-XI/AAAAAAAAB4Y/6-muJS9ZQcE/s400/Shelby-Collectibles-Diecast-7AE01-2008-Ford-Mustang-Shelby-GT500-Convertible-40th-Anniversary-1-18-Scale-Black-Silver-001.JPG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1668" y="3260900"/>
                <a:ext cx="914400" cy="685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80" name="Picture 12" descr="http://cars.minimodelshop.co.uk/8025701F0054F3AD/ls/Maisto-31329BL/$File/ford-mustang-boss-302-diecast-model-car-maisto-31329bl-p.jpg"/>
              <p:cNvPicPr>
                <a:picLocks noChangeAspect="1" noChangeArrowheads="1"/>
              </p:cNvPicPr>
              <p:nvPr/>
            </p:nvPicPr>
            <p:blipFill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12704" y="917162"/>
                <a:ext cx="914400" cy="6927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82" name="Picture 14" descr="http://www.alldiecast.us/images_miniatures/147195.jpg"/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4702" y="2134168"/>
                <a:ext cx="914400" cy="5486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84" name="Picture 16" descr="http://www.fallingpixel.com/products/9482/mains/000-3d-model-65Mustang08.jpg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4702" y="3946700"/>
                <a:ext cx="914400" cy="685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86" name="Picture 18" descr="http://site.diecastblast.com/diecastblast/products/dc2008.jpg"/>
              <p:cNvPicPr>
                <a:picLocks noChangeAspect="1" noChangeArrowheads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7974" y="4656148"/>
                <a:ext cx="914400" cy="685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88" name="Picture 20" descr="http://t3.gstatic.com/images?q=tbn:ANd9GcTVGq6Ttf8DiwB_IKGRABzbn1uQU55PcCNzefeylR4SJwy84X_Nbg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0137" y="5341948"/>
                <a:ext cx="914400" cy="6849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90" name="Picture 22" descr="http://www.alldiecast.us/images_miniatures/138998.jpg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304" y="988822"/>
                <a:ext cx="914400" cy="5494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92" name="Picture 24" descr="http://t3.gstatic.com/images?q=tbn:ANd9GcS9VI_ANNR5mr_mlad3MT-6FxJZ5TaPjbe_sfHEZsDR9HLaHcg8"/>
              <p:cNvPicPr>
                <a:picLocks noChangeAspect="1" noChangeArrowheads="1"/>
              </p:cNvPicPr>
              <p:nvPr/>
            </p:nvPicPr>
            <p:blipFill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74537" y="2934457"/>
                <a:ext cx="914400" cy="6911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94" name="Picture 26" descr="http://cars.minimodelshop.co.uk/8025701F0054F3AD/ls/FranklinMint-B11F681/$File/shelby-mustang-gt350-1966-diecast-model-car-franklin-mint-b11f681-p.jpg"/>
              <p:cNvPicPr>
                <a:picLocks noChangeAspect="1" noChangeArrowheads="1"/>
              </p:cNvPicPr>
              <p:nvPr/>
            </p:nvPicPr>
            <p:blipFill>
              <a:blip r:embed="rId2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9102" y="3687014"/>
                <a:ext cx="914400" cy="6927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96" name="Picture 28" descr="http://cdn102.iofferphoto.com/img3/item/517/266/955/l_zZCQ2011-ford-mustang-gt-5-0-grey-diecast-model-car-1-24-sc.jpg"/>
              <p:cNvPicPr>
                <a:picLocks noChangeAspect="1" noChangeArrowheads="1"/>
              </p:cNvPicPr>
              <p:nvPr/>
            </p:nvPicPr>
            <p:blipFill>
              <a:blip r:embed="rId2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9102" y="4272775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198" name="Picture 30" descr="http://t1.gstatic.com/images?q=tbn:ANd9GcRuifSjmjV38x6VOUmShqtLYfKry_ve9oSE_SNXpMg4WXhqNqG0"/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9102" y="4971337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00" name="Picture 32" descr="http://cdn102.iofferphoto.com/img/item/517/266/641/l_XEQV1970-ford-mustang-boss-429-blue-diecast-model-car-1-24.jpg"/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27104" y="914400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02" name="Picture 34" descr="http://dyn-images2.hsni.com/is/image/HomeShoppingNetwork/pd300/revell-1-24-64-1-2-mustang-convertible-model-car-kit%7E6163901w.jpg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88937" y="1685301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04" name="Picture 36" descr="http://t0.gstatic.com/images?q=tbn:ANd9GcSwbW6H4BQjr2B5QU1G22iyuvcl1b-3cUKPFO-UYZFzITg6nf0MuQ"/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08425" y="2366421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06" name="Picture 38" descr="http://www.cartuningparts.co.uk/img/autoart-parnelli-jones-saleen-mustang-orange-15-118-scale-diecast-model-car_577632_250.jp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88937" y="3032300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08" name="Picture 40" descr="http://t3.gstatic.com/images?q=tbn:ANd9GcTIJudnj3-QOH6Je9ic9YrCn8v9EnOTyvwdwiljWMmB3eo9m-S6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18453" y="3747751"/>
                <a:ext cx="914400" cy="6849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12" name="Picture 44" descr="http://t2.gstatic.com/images?q=tbn:ANd9GcTAC-vgwaoOMI9l4uNB8OrruzTAFVQdA8pvNa-U0ciDfwffI688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4452" y="4999048"/>
                <a:ext cx="914400" cy="6911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14" name="Picture 46" descr="http://t1.gstatic.com/images?q=tbn:ANd9GcRYWsmVaFPn96zwSbUsDeCGRpIT6YCruwkZrk8H7FKPCuxVCiM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1668" y="5885737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18" name="Picture 50" descr="http://t3.gstatic.com/images?q=tbn:ANd9GcS1FU6huTZVWf8nnwNyGbXTpu6AyYrvGK2UnDlLtugPl-zfUbp_ig"/>
              <p:cNvPicPr>
                <a:picLocks noChangeAspect="1" noChangeArrowheads="1"/>
              </p:cNvPicPr>
              <p:nvPr/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88937" y="5658019"/>
                <a:ext cx="914400" cy="9098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" name="Picture 42" descr="http://t2.gstatic.com/images?q=tbn:ANd9GcSqEKMFBuEMqbZs54DN-kk17Ir8EqP6MsqC8v4nTUJcYVRbKOp8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08425" y="4381828"/>
                <a:ext cx="914400" cy="5486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220" name="Picture 52" descr="http://t2.gstatic.com/images?q=tbn:ANd9GcS_-j4gzFfnezy7FARomzB1eRF905JKWsh2LValrgLcQzF21U3L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91945" y="5759468"/>
                <a:ext cx="914400" cy="5486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DE1759D-9CB5-4DD9-F020-895F42C6C9A7}"/>
                </a:ext>
              </a:extLst>
            </p:cNvPr>
            <p:cNvPicPr>
              <a:picLocks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3443313" y="685800"/>
              <a:ext cx="914400" cy="54864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BC10776-469B-CB14-9BDD-D9472F0D0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3495786" y="1290466"/>
              <a:ext cx="908684" cy="54864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60F236E-46E2-8B4E-D519-A0D922BAA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3456810" y="1811209"/>
              <a:ext cx="932203" cy="54864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21F2381-02D5-3DF5-4A64-F45B058FC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3450185" y="2368403"/>
              <a:ext cx="941128" cy="54864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A32386B-B08D-FB44-87DA-AD3A102D7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3440230" y="2853859"/>
              <a:ext cx="1207970" cy="548640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260720A-0E78-3967-263E-90BE8E3FB45B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904349" y="701967"/>
            <a:ext cx="941128" cy="548640"/>
          </a:xfrm>
          <a:prstGeom prst="rect">
            <a:avLst/>
          </a:prstGeom>
        </p:spPr>
      </p:pic>
      <p:pic>
        <p:nvPicPr>
          <p:cNvPr id="18" name="Picture 16" descr="http://www.fallingpixel.com/products/9482/mains/000-3d-model-65Mustang08.jpg">
            <a:extLst>
              <a:ext uri="{FF2B5EF4-FFF2-40B4-BE49-F238E27FC236}">
                <a16:creationId xmlns:a16="http://schemas.microsoft.com/office/drawing/2014/main" id="{AE45DA1F-9EC3-BFAF-F5A8-9B038B86E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2188" y="1247338"/>
            <a:ext cx="914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40A08E-2C7C-DDDD-FE20-A3F6F9E370F6}"/>
              </a:ext>
            </a:extLst>
          </p:cNvPr>
          <p:cNvPicPr>
            <a:picLocks/>
          </p:cNvPicPr>
          <p:nvPr/>
        </p:nvPicPr>
        <p:blipFill>
          <a:blip r:embed="rId31"/>
          <a:stretch>
            <a:fillRect/>
          </a:stretch>
        </p:blipFill>
        <p:spPr>
          <a:xfrm>
            <a:off x="7860251" y="1908996"/>
            <a:ext cx="914400" cy="548640"/>
          </a:xfrm>
          <a:prstGeom prst="rect">
            <a:avLst/>
          </a:prstGeom>
        </p:spPr>
      </p:pic>
      <p:pic>
        <p:nvPicPr>
          <p:cNvPr id="20" name="Picture 38" descr="http://www.cartuningparts.co.uk/img/autoart-parnelli-jones-saleen-mustang-orange-15-118-scale-diecast-model-car_577632_250.jpg">
            <a:extLst>
              <a:ext uri="{FF2B5EF4-FFF2-40B4-BE49-F238E27FC236}">
                <a16:creationId xmlns:a16="http://schemas.microsoft.com/office/drawing/2014/main" id="{7AB6DEA5-136D-9AEE-577A-BE882CD93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220" y="2447251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798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7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7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50"/>
                            </p:stCondLst>
                            <p:childTnLst>
                              <p:par>
                                <p:cTn id="4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750"/>
                            </p:stCondLst>
                            <p:childTnLst>
                              <p:par>
                                <p:cTn id="5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50"/>
                            </p:stCondLst>
                            <p:childTnLst>
                              <p:par>
                                <p:cTn id="6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500"/>
                            </p:stCondLst>
                            <p:childTnLst>
                              <p:par>
                                <p:cTn id="7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750"/>
                            </p:stCondLst>
                            <p:childTnLst>
                              <p:par>
                                <p:cTn id="7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000"/>
                            </p:stCondLst>
                            <p:childTnLst>
                              <p:par>
                                <p:cTn id="8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250"/>
                            </p:stCondLst>
                            <p:childTnLst>
                              <p:par>
                                <p:cTn id="8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2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500"/>
                            </p:stCondLst>
                            <p:childTnLst>
                              <p:par>
                                <p:cTn id="9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750"/>
                            </p:stCondLst>
                            <p:childTnLst>
                              <p:par>
                                <p:cTn id="9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2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250"/>
                            </p:stCondLst>
                            <p:childTnLst>
                              <p:par>
                                <p:cTn id="10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500"/>
                            </p:stCondLst>
                            <p:childTnLst>
                              <p:par>
                                <p:cTn id="1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750"/>
                            </p:stCondLst>
                            <p:childTnLst>
                              <p:par>
                                <p:cTn id="1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6000"/>
                            </p:stCondLst>
                            <p:childTnLst>
                              <p:par>
                                <p:cTn id="1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250"/>
                            </p:stCondLst>
                            <p:childTnLst>
                              <p:par>
                                <p:cTn id="1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6500"/>
                            </p:stCondLst>
                            <p:childTnLst>
                              <p:par>
                                <p:cTn id="1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7000"/>
                            </p:stCondLst>
                            <p:childTnLst>
                              <p:par>
                                <p:cTn id="1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7500"/>
                            </p:stCondLst>
                            <p:childTnLst>
                              <p:par>
                                <p:cTn id="14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7750"/>
                            </p:stCondLst>
                            <p:childTnLst>
                              <p:par>
                                <p:cTn id="14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85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52400" y="2590800"/>
            <a:ext cx="1828800" cy="1295400"/>
          </a:xfrm>
          <a:prstGeom prst="roundRect">
            <a:avLst/>
          </a:prstGeom>
          <a:solidFill>
            <a:srgbClr val="FFE48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</a:schemeClr>
                </a:solidFill>
              </a:rPr>
              <a:t>Original Sample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62200" y="381000"/>
            <a:ext cx="1828800" cy="1295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75000"/>
                  </a:schemeClr>
                </a:solidFill>
              </a:rPr>
              <a:t>BootstrapSample</a:t>
            </a:r>
            <a:endParaRPr lang="en-US" sz="2800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0" name="Straight Arrow Connector 9"/>
          <p:cNvCxnSpPr>
            <a:stCxn id="7" idx="3"/>
            <a:endCxn id="8" idx="1"/>
          </p:cNvCxnSpPr>
          <p:nvPr/>
        </p:nvCxnSpPr>
        <p:spPr>
          <a:xfrm flipV="1">
            <a:off x="1981200" y="1028700"/>
            <a:ext cx="381000" cy="220980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62200" y="1828800"/>
            <a:ext cx="1828800" cy="1295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75000"/>
                  </a:schemeClr>
                </a:solidFill>
              </a:rPr>
              <a:t>BootstrapSample</a:t>
            </a:r>
            <a:endParaRPr lang="en-US" sz="2800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2" name="Straight Arrow Connector 11"/>
          <p:cNvCxnSpPr>
            <a:stCxn id="7" idx="3"/>
            <a:endCxn id="11" idx="1"/>
          </p:cNvCxnSpPr>
          <p:nvPr/>
        </p:nvCxnSpPr>
        <p:spPr>
          <a:xfrm flipV="1">
            <a:off x="1981200" y="2476500"/>
            <a:ext cx="381000" cy="76200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38400" y="5029200"/>
            <a:ext cx="1828800" cy="1295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>
                    <a:lumMod val="75000"/>
                  </a:schemeClr>
                </a:solidFill>
              </a:rPr>
              <a:t>BootstrapSample</a:t>
            </a:r>
            <a:endParaRPr lang="en-US" sz="28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05100" y="3353264"/>
            <a:ext cx="114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●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●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19600" y="609600"/>
            <a:ext cx="17526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</a:schemeClr>
                </a:solidFill>
              </a:rPr>
              <a:t>Bootstrap Statistic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120" y="4267200"/>
            <a:ext cx="17526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</a:schemeClr>
                </a:solidFill>
              </a:rPr>
              <a:t>Sample Statistic</a:t>
            </a:r>
          </a:p>
        </p:txBody>
      </p:sp>
      <p:cxnSp>
        <p:nvCxnSpPr>
          <p:cNvPr id="23" name="Straight Arrow Connector 22"/>
          <p:cNvCxnSpPr>
            <a:stCxn id="7" idx="2"/>
            <a:endCxn id="21" idx="0"/>
          </p:cNvCxnSpPr>
          <p:nvPr/>
        </p:nvCxnSpPr>
        <p:spPr>
          <a:xfrm>
            <a:off x="1066800" y="3886200"/>
            <a:ext cx="7620" cy="38100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8" idx="3"/>
            <a:endCxn id="20" idx="1"/>
          </p:cNvCxnSpPr>
          <p:nvPr/>
        </p:nvCxnSpPr>
        <p:spPr>
          <a:xfrm>
            <a:off x="4191000" y="1028700"/>
            <a:ext cx="228600" cy="3810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419600" y="1981200"/>
            <a:ext cx="17526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</a:schemeClr>
                </a:solidFill>
              </a:rPr>
              <a:t>Bootstrap Statistic</a:t>
            </a:r>
          </a:p>
        </p:txBody>
      </p:sp>
      <p:cxnSp>
        <p:nvCxnSpPr>
          <p:cNvPr id="28" name="Straight Arrow Connector 27"/>
          <p:cNvCxnSpPr>
            <a:stCxn id="11" idx="3"/>
            <a:endCxn id="27" idx="1"/>
          </p:cNvCxnSpPr>
          <p:nvPr/>
        </p:nvCxnSpPr>
        <p:spPr>
          <a:xfrm flipV="1">
            <a:off x="4191000" y="2438400"/>
            <a:ext cx="228600" cy="3810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572000" y="5257800"/>
            <a:ext cx="1752600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75000"/>
                  </a:schemeClr>
                </a:solidFill>
              </a:rPr>
              <a:t>Bootstrap Statistic</a:t>
            </a:r>
          </a:p>
        </p:txBody>
      </p:sp>
      <p:cxnSp>
        <p:nvCxnSpPr>
          <p:cNvPr id="30" name="Straight Arrow Connector 29"/>
          <p:cNvCxnSpPr>
            <a:stCxn id="15" idx="3"/>
            <a:endCxn id="29" idx="1"/>
          </p:cNvCxnSpPr>
          <p:nvPr/>
        </p:nvCxnSpPr>
        <p:spPr>
          <a:xfrm>
            <a:off x="4267200" y="5676900"/>
            <a:ext cx="304800" cy="3810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876800" y="3286035"/>
            <a:ext cx="114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dirty="0">
                <a:solidFill>
                  <a:srgbClr val="000000"/>
                </a:solidFill>
              </a:rPr>
              <a:t>●</a:t>
            </a:r>
          </a:p>
          <a:p>
            <a:pPr lvl="0" algn="ctr"/>
            <a:r>
              <a:rPr lang="en-US" dirty="0">
                <a:solidFill>
                  <a:srgbClr val="000000"/>
                </a:solidFill>
              </a:rPr>
              <a:t>●</a:t>
            </a:r>
          </a:p>
          <a:p>
            <a:pPr lvl="0" algn="ctr"/>
            <a:r>
              <a:rPr lang="en-US" dirty="0">
                <a:solidFill>
                  <a:srgbClr val="000000"/>
                </a:solidFill>
              </a:rPr>
              <a:t>●</a:t>
            </a:r>
          </a:p>
        </p:txBody>
      </p:sp>
      <p:sp>
        <p:nvSpPr>
          <p:cNvPr id="32" name="Oval 31"/>
          <p:cNvSpPr/>
          <p:nvPr/>
        </p:nvSpPr>
        <p:spPr>
          <a:xfrm>
            <a:off x="6477000" y="2743200"/>
            <a:ext cx="2590800" cy="1295400"/>
          </a:xfrm>
          <a:prstGeom prst="ellipse">
            <a:avLst/>
          </a:prstGeom>
          <a:solidFill>
            <a:srgbClr val="FF99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700" dirty="0">
                <a:solidFill>
                  <a:schemeClr val="tx1">
                    <a:lumMod val="75000"/>
                  </a:schemeClr>
                </a:solidFill>
              </a:rPr>
              <a:t>Bootstrap Distribution</a:t>
            </a:r>
          </a:p>
        </p:txBody>
      </p:sp>
      <p:cxnSp>
        <p:nvCxnSpPr>
          <p:cNvPr id="41" name="Straight Arrow Connector 40"/>
          <p:cNvCxnSpPr>
            <a:stCxn id="20" idx="3"/>
          </p:cNvCxnSpPr>
          <p:nvPr/>
        </p:nvCxnSpPr>
        <p:spPr>
          <a:xfrm>
            <a:off x="6172200" y="1066800"/>
            <a:ext cx="838200" cy="182880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3"/>
          </p:cNvCxnSpPr>
          <p:nvPr/>
        </p:nvCxnSpPr>
        <p:spPr>
          <a:xfrm>
            <a:off x="6172200" y="2438400"/>
            <a:ext cx="533400" cy="60960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981200" y="3124200"/>
            <a:ext cx="457200" cy="243840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32" idx="3"/>
          </p:cNvCxnSpPr>
          <p:nvPr/>
        </p:nvCxnSpPr>
        <p:spPr>
          <a:xfrm flipV="1">
            <a:off x="6307015" y="3848893"/>
            <a:ext cx="549399" cy="1847057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185" y="3638901"/>
            <a:ext cx="1971869" cy="1124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559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5" grpId="0" animBg="1"/>
      <p:bldP spid="19" grpId="0"/>
      <p:bldP spid="20" grpId="0" animBg="1"/>
      <p:bldP spid="21" grpId="0" animBg="1"/>
      <p:bldP spid="27" grpId="0" animBg="1"/>
      <p:bldP spid="29" grpId="0" animBg="1"/>
      <p:bldP spid="31" grpId="0"/>
      <p:bldP spid="3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5D86D4-97C7-BE83-8C23-592ED3231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0"/>
            <a:ext cx="9144000" cy="58705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C6DFB2-AE42-A300-860D-6E00A2B24DD5}"/>
              </a:ext>
            </a:extLst>
          </p:cNvPr>
          <p:cNvSpPr txBox="1"/>
          <p:nvPr/>
        </p:nvSpPr>
        <p:spPr>
          <a:xfrm>
            <a:off x="1447800" y="5873754"/>
            <a:ext cx="701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 do we find a confidence interval from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bootstrap distribution? </a:t>
            </a:r>
          </a:p>
        </p:txBody>
      </p:sp>
    </p:spTree>
    <p:extLst>
      <p:ext uri="{BB962C8B-B14F-4D97-AF65-F5344CB8AC3E}">
        <p14:creationId xmlns:p14="http://schemas.microsoft.com/office/powerpoint/2010/main" val="397057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3152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 we get a CI from the bootstrap distribution?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76962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Method #1: Standard Error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Find the standard error (SE) as the standard deviation of the bootstrap statistics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Find an interval with</a:t>
            </a:r>
          </a:p>
          <a:p>
            <a:pPr>
              <a:spcAft>
                <a:spcPts val="1200"/>
              </a:spcAft>
            </a:pP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47800" y="3657600"/>
                <a:ext cx="6553200" cy="707886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latin typeface="Cambria Math"/>
                        </a:rPr>
                        <m:t>𝑂𝑟𝑖𝑔𝑖𝑛𝑎𝑙</m:t>
                      </m:r>
                      <m:r>
                        <a:rPr lang="en-US" sz="4000" i="1">
                          <a:latin typeface="Cambria Math"/>
                        </a:rPr>
                        <m:t> </m:t>
                      </m:r>
                      <m:r>
                        <a:rPr lang="en-US" sz="4000" i="1">
                          <a:latin typeface="Cambria Math"/>
                        </a:rPr>
                        <m:t>𝑆𝑡𝑎𝑡𝑖𝑠𝑡𝑖𝑐</m:t>
                      </m:r>
                      <m:r>
                        <a:rPr lang="en-US" sz="4000" i="1">
                          <a:latin typeface="Cambria Math"/>
                        </a:rPr>
                        <m:t>±2⋅</m:t>
                      </m:r>
                      <m:r>
                        <a:rPr lang="en-US" sz="4000" i="1">
                          <a:latin typeface="Cambria Math"/>
                        </a:rPr>
                        <m:t>𝑆𝐸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3657600"/>
                <a:ext cx="6553200" cy="70788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747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74E5A-8FF0-D8B0-1F27-9C1EC50E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6F94831-26A2-C624-4292-AA464852D52D}"/>
              </a:ext>
            </a:extLst>
          </p:cNvPr>
          <p:cNvSpPr/>
          <p:nvPr/>
        </p:nvSpPr>
        <p:spPr>
          <a:xfrm>
            <a:off x="5029200" y="1676400"/>
            <a:ext cx="1056443" cy="3817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05C5BA-BE88-2EA0-8B7B-1E5449912B77}"/>
                  </a:ext>
                </a:extLst>
              </p:cNvPr>
              <p:cNvSpPr txBox="1"/>
              <p:nvPr/>
            </p:nvSpPr>
            <p:spPr>
              <a:xfrm>
                <a:off x="0" y="5325979"/>
                <a:ext cx="415668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27.70</m:t>
                      </m:r>
                      <m:r>
                        <a:rPr lang="en-US" sz="320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±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2∙(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1.815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3200" b="0" i="1" dirty="0">
                  <a:solidFill>
                    <a:schemeClr val="tx1"/>
                  </a:solidFill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2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7.70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±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3.63</m:t>
                      </m:r>
                    </m:oMath>
                  </m:oMathPara>
                </a14:m>
                <a:endParaRPr lang="en-US" sz="3200" b="0" i="1" dirty="0">
                  <a:solidFill>
                    <a:schemeClr val="tx1"/>
                  </a:solidFill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24.07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31.33</m:t>
                      </m:r>
                      <m:r>
                        <a:rPr lang="en-US" sz="32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05C5BA-BE88-2EA0-8B7B-1E5449912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25979"/>
                <a:ext cx="4156688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88B6AA5-C9BD-3F39-2E5C-22D03CC7A6DA}"/>
              </a:ext>
            </a:extLst>
          </p:cNvPr>
          <p:cNvSpPr txBox="1"/>
          <p:nvPr/>
        </p:nvSpPr>
        <p:spPr>
          <a:xfrm>
            <a:off x="4267200" y="5418311"/>
            <a:ext cx="4648200" cy="138499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en-US" sz="2800" i="1" dirty="0">
                <a:solidFill>
                  <a:schemeClr val="tx1"/>
                </a:solidFill>
              </a:rPr>
              <a:t>We are 95%  sure that the average Mustang price is between $24,070 and $31,330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FFACB0-2EBB-032D-7ED4-4D27DF1775D4}"/>
              </a:ext>
            </a:extLst>
          </p:cNvPr>
          <p:cNvSpPr/>
          <p:nvPr/>
        </p:nvSpPr>
        <p:spPr>
          <a:xfrm>
            <a:off x="6781800" y="1143000"/>
            <a:ext cx="1056443" cy="3817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F3F109-711A-E184-01BA-B0B7E2395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95" y="0"/>
            <a:ext cx="8372209" cy="537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7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3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32C62-B25D-AEE5-22CE-A58B33B86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071DE-3A82-4FFB-E15D-433DAD1EC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04800"/>
            <a:ext cx="73152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 we get a CI from the bootstrap distribution?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17975B-1467-F99B-9F78-EE38492F4ABB}"/>
              </a:ext>
            </a:extLst>
          </p:cNvPr>
          <p:cNvSpPr txBox="1"/>
          <p:nvPr/>
        </p:nvSpPr>
        <p:spPr>
          <a:xfrm>
            <a:off x="685800" y="1828800"/>
            <a:ext cx="76962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Method #1: Standard Error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Find the standard error (SE) as the standard deviation of the bootstrap statistics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Find an interval with</a:t>
            </a:r>
          </a:p>
          <a:p>
            <a:pPr>
              <a:spcAft>
                <a:spcPts val="1200"/>
              </a:spcAft>
            </a:pP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D0B6B8-1FA6-D55E-C5A1-4DD28C675648}"/>
                  </a:ext>
                </a:extLst>
              </p:cNvPr>
              <p:cNvSpPr txBox="1"/>
              <p:nvPr/>
            </p:nvSpPr>
            <p:spPr>
              <a:xfrm>
                <a:off x="1447800" y="3657600"/>
                <a:ext cx="6553200" cy="707886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latin typeface="Cambria Math"/>
                        </a:rPr>
                        <m:t>𝑂𝑟𝑖𝑔𝑖𝑛𝑎𝑙</m:t>
                      </m:r>
                      <m:r>
                        <a:rPr lang="en-US" sz="4000" i="1">
                          <a:latin typeface="Cambria Math"/>
                        </a:rPr>
                        <m:t> </m:t>
                      </m:r>
                      <m:r>
                        <a:rPr lang="en-US" sz="4000" i="1">
                          <a:latin typeface="Cambria Math"/>
                        </a:rPr>
                        <m:t>𝑆𝑡𝑎𝑡𝑖𝑠𝑡𝑖𝑐</m:t>
                      </m:r>
                      <m:r>
                        <a:rPr lang="en-US" sz="4000" i="1">
                          <a:latin typeface="Cambria Math"/>
                        </a:rPr>
                        <m:t>±2⋅</m:t>
                      </m:r>
                      <m:r>
                        <a:rPr lang="en-US" sz="4000" i="1">
                          <a:latin typeface="Cambria Math"/>
                        </a:rPr>
                        <m:t>𝑆𝐸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3657600"/>
                <a:ext cx="655320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0D63043-C632-FC45-CC89-566B224D47E6}"/>
              </a:ext>
            </a:extLst>
          </p:cNvPr>
          <p:cNvSpPr txBox="1"/>
          <p:nvPr/>
        </p:nvSpPr>
        <p:spPr>
          <a:xfrm>
            <a:off x="810491" y="4572000"/>
            <a:ext cx="7696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Method #2: Percentile Interval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For a 95% interval, find the endpoints that cut off 2.5% of the bootstrap means from each tail, leaving 95% in the middle</a:t>
            </a:r>
          </a:p>
        </p:txBody>
      </p:sp>
    </p:spTree>
    <p:extLst>
      <p:ext uri="{BB962C8B-B14F-4D97-AF65-F5344CB8AC3E}">
        <p14:creationId xmlns:p14="http://schemas.microsoft.com/office/powerpoint/2010/main" val="422315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D8DCA-0F2E-47A2-87B2-4DB6BB5E6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92C12F0-9D92-0DA6-72F2-397CE5C69F81}"/>
              </a:ext>
            </a:extLst>
          </p:cNvPr>
          <p:cNvGrpSpPr/>
          <p:nvPr/>
        </p:nvGrpSpPr>
        <p:grpSpPr>
          <a:xfrm>
            <a:off x="533400" y="660458"/>
            <a:ext cx="7467600" cy="5288438"/>
            <a:chOff x="985736" y="648555"/>
            <a:chExt cx="7467600" cy="528843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9B62BEF-9966-7468-C34B-5EAF51C66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5736" y="648555"/>
              <a:ext cx="7467600" cy="523168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F979D7-B82F-04BB-3055-EC9B31537622}"/>
                </a:ext>
              </a:extLst>
            </p:cNvPr>
            <p:cNvSpPr/>
            <p:nvPr/>
          </p:nvSpPr>
          <p:spPr>
            <a:xfrm>
              <a:off x="990600" y="5486400"/>
              <a:ext cx="1543054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814942A-5CC0-FD45-65FC-F853D90F3BB0}"/>
                </a:ext>
              </a:extLst>
            </p:cNvPr>
            <p:cNvSpPr/>
            <p:nvPr/>
          </p:nvSpPr>
          <p:spPr>
            <a:xfrm>
              <a:off x="7143746" y="5486400"/>
              <a:ext cx="130959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2D011B9-F088-2DCD-5545-CF7EBB06CF9E}"/>
                </a:ext>
              </a:extLst>
            </p:cNvPr>
            <p:cNvSpPr/>
            <p:nvPr/>
          </p:nvSpPr>
          <p:spPr>
            <a:xfrm>
              <a:off x="3581400" y="5638799"/>
              <a:ext cx="2552704" cy="2981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1F4EA0-F314-2275-0E25-1A96AEB8F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46" y="9832"/>
            <a:ext cx="7746194" cy="724137"/>
          </a:xfrm>
        </p:spPr>
        <p:txBody>
          <a:bodyPr>
            <a:normAutofit/>
          </a:bodyPr>
          <a:lstStyle/>
          <a:p>
            <a:r>
              <a:rPr lang="en-US" sz="4000" dirty="0"/>
              <a:t>95% CI via Percentiles</a:t>
            </a:r>
            <a:endParaRPr lang="en-US" sz="4000" dirty="0">
              <a:solidFill>
                <a:srgbClr val="FFFF66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AF7E2B1-5AC2-7378-E9E8-E2C72302DF52}"/>
              </a:ext>
            </a:extLst>
          </p:cNvPr>
          <p:cNvSpPr/>
          <p:nvPr/>
        </p:nvSpPr>
        <p:spPr bwMode="auto">
          <a:xfrm>
            <a:off x="3633813" y="3881378"/>
            <a:ext cx="1700187" cy="995422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2060"/>
                </a:solidFill>
              </a:rPr>
              <a:t>Keep 95% in middle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FAC95A-7605-1F71-2023-89E6C1FE8A16}"/>
              </a:ext>
            </a:extLst>
          </p:cNvPr>
          <p:cNvSpPr txBox="1"/>
          <p:nvPr/>
        </p:nvSpPr>
        <p:spPr>
          <a:xfrm>
            <a:off x="1524000" y="3904379"/>
            <a:ext cx="136705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Chop 2.5% in each tail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FEAB5B-F2B9-81C1-86C5-ABADAAC1A37C}"/>
              </a:ext>
            </a:extLst>
          </p:cNvPr>
          <p:cNvSpPr txBox="1"/>
          <p:nvPr/>
        </p:nvSpPr>
        <p:spPr>
          <a:xfrm>
            <a:off x="6172200" y="3886200"/>
            <a:ext cx="1343546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Chop 2.5% in each tail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85D84-2177-E2E2-E320-F123853F2AFF}"/>
              </a:ext>
            </a:extLst>
          </p:cNvPr>
          <p:cNvSpPr txBox="1"/>
          <p:nvPr/>
        </p:nvSpPr>
        <p:spPr>
          <a:xfrm>
            <a:off x="533400" y="5936993"/>
            <a:ext cx="8458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We are 95% sure that the average online price for used </a:t>
            </a:r>
            <a:r>
              <a:rPr lang="en-US" sz="2800" dirty="0"/>
              <a:t>Mustangs is between $24,225 and $31,285. 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84F90A-1486-4D54-70D9-8626ED753638}"/>
              </a:ext>
            </a:extLst>
          </p:cNvPr>
          <p:cNvSpPr txBox="1"/>
          <p:nvPr/>
        </p:nvSpPr>
        <p:spPr>
          <a:xfrm>
            <a:off x="5712568" y="2073415"/>
            <a:ext cx="2590800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Easily adjust to other confidence levels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287AC8-9A89-7D19-C1A7-FFA80787A5B3}"/>
              </a:ext>
            </a:extLst>
          </p:cNvPr>
          <p:cNvCxnSpPr>
            <a:cxnSpLocks/>
          </p:cNvCxnSpPr>
          <p:nvPr/>
        </p:nvCxnSpPr>
        <p:spPr>
          <a:xfrm flipH="1">
            <a:off x="4762500" y="2427358"/>
            <a:ext cx="950068" cy="7649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333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0" grpId="0" animBg="1"/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C8D05-BB5D-C8D4-E9DB-BA5181F9A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0EB52B-4F91-ED90-13C9-0AB7567B330F}"/>
              </a:ext>
            </a:extLst>
          </p:cNvPr>
          <p:cNvSpPr txBox="1"/>
          <p:nvPr/>
        </p:nvSpPr>
        <p:spPr>
          <a:xfrm>
            <a:off x="609600" y="609600"/>
            <a:ext cx="79248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Bootstrap Confidence Intervals</a:t>
            </a:r>
          </a:p>
          <a:p>
            <a:endParaRPr lang="en-US" sz="4000" dirty="0"/>
          </a:p>
          <a:p>
            <a:r>
              <a:rPr lang="en-US" sz="3600" u="sng" dirty="0"/>
              <a:t>Version 1 (Statistic </a:t>
            </a:r>
            <a:r>
              <a:rPr lang="en-US" sz="3600" u="sng" dirty="0">
                <a:sym typeface="Symbol"/>
              </a:rPr>
              <a:t> </a:t>
            </a:r>
            <a:r>
              <a:rPr lang="en-US" sz="3600" u="sng" dirty="0"/>
              <a:t>2 SE)</a:t>
            </a:r>
            <a:r>
              <a:rPr lang="en-US" sz="3600" dirty="0"/>
              <a:t>:  </a:t>
            </a:r>
          </a:p>
          <a:p>
            <a:r>
              <a:rPr lang="en-US" sz="3600" dirty="0"/>
              <a:t>Great preparation for moving to </a:t>
            </a:r>
          </a:p>
          <a:p>
            <a:r>
              <a:rPr lang="en-US" sz="3600" dirty="0"/>
              <a:t>traditional methods</a:t>
            </a:r>
          </a:p>
          <a:p>
            <a:endParaRPr lang="en-US" sz="3600" dirty="0"/>
          </a:p>
          <a:p>
            <a:r>
              <a:rPr lang="en-US" sz="3600" u="sng" dirty="0"/>
              <a:t>Version 2 (Percentiles)</a:t>
            </a:r>
            <a:r>
              <a:rPr lang="en-US" sz="3600" dirty="0"/>
              <a:t>:  </a:t>
            </a:r>
          </a:p>
          <a:p>
            <a:r>
              <a:rPr lang="en-US" sz="3600" dirty="0"/>
              <a:t>Great at building understanding of </a:t>
            </a:r>
          </a:p>
          <a:p>
            <a:r>
              <a:rPr lang="en-US" sz="3600" dirty="0"/>
              <a:t>confidence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BA2A2-562C-73C8-3982-F4D17134B5C7}"/>
              </a:ext>
            </a:extLst>
          </p:cNvPr>
          <p:cNvSpPr txBox="1"/>
          <p:nvPr/>
        </p:nvSpPr>
        <p:spPr>
          <a:xfrm>
            <a:off x="381000" y="5867400"/>
            <a:ext cx="861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u="sng" dirty="0">
                <a:solidFill>
                  <a:srgbClr val="C00000"/>
                </a:solidFill>
              </a:rPr>
              <a:t>Same</a:t>
            </a:r>
            <a:r>
              <a:rPr lang="en-US" sz="3600" dirty="0">
                <a:solidFill>
                  <a:srgbClr val="C00000"/>
                </a:solidFill>
              </a:rPr>
              <a:t> process works for different parameters</a:t>
            </a:r>
          </a:p>
        </p:txBody>
      </p:sp>
    </p:spTree>
    <p:extLst>
      <p:ext uri="{BB962C8B-B14F-4D97-AF65-F5344CB8AC3E}">
        <p14:creationId xmlns:p14="http://schemas.microsoft.com/office/powerpoint/2010/main" val="122998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6264865-23D9-4BDC-329E-544FE421C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877" y="4436760"/>
            <a:ext cx="5473917" cy="18531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709135-0BD2-90B1-0896-7D6F1DCE1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40" y="933164"/>
            <a:ext cx="3209925" cy="429890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742972" y="2951401"/>
            <a:ext cx="858905" cy="34624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Oval 7"/>
          <p:cNvSpPr/>
          <p:nvPr/>
        </p:nvSpPr>
        <p:spPr>
          <a:xfrm>
            <a:off x="6365936" y="5480595"/>
            <a:ext cx="600075" cy="36047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Box 6"/>
          <p:cNvSpPr txBox="1"/>
          <p:nvPr/>
        </p:nvSpPr>
        <p:spPr>
          <a:xfrm>
            <a:off x="3878612" y="1283044"/>
            <a:ext cx="4974648" cy="830997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Find a 95% CI for the proportion of US teens who have used TikTok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28389" y="2906168"/>
                <a:ext cx="16137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/>
                        </a:rPr>
                        <m:t>𝑛</m:t>
                      </m:r>
                      <m:r>
                        <a:rPr lang="en-US" sz="2400" i="1" dirty="0">
                          <a:latin typeface="Cambria Math"/>
                        </a:rPr>
                        <m:t> =1316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389" y="2906168"/>
                <a:ext cx="161373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983335" y="3520055"/>
                <a:ext cx="47652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# TikTok users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1316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0.67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=882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335" y="3520055"/>
                <a:ext cx="4765202" cy="461665"/>
              </a:xfrm>
              <a:prstGeom prst="rect">
                <a:avLst/>
              </a:prstGeom>
              <a:blipFill>
                <a:blip r:embed="rId5"/>
                <a:stretch>
                  <a:fillRect l="-191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878612" y="2324139"/>
                <a:ext cx="16137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/>
                            </a:rPr>
                            <m:t>𝑝</m:t>
                          </m:r>
                        </m:e>
                      </m:acc>
                      <m:r>
                        <a:rPr lang="en-US" sz="2400" i="1">
                          <a:latin typeface="Cambria Math"/>
                        </a:rPr>
                        <m:t>=0.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67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612" y="2324139"/>
                <a:ext cx="1613736" cy="461665"/>
              </a:xfrm>
              <a:prstGeom prst="rect">
                <a:avLst/>
              </a:prstGeom>
              <a:blipFill>
                <a:blip r:embed="rId6"/>
                <a:stretch>
                  <a:fillRect t="-3947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01425" y="6366515"/>
            <a:ext cx="9065273" cy="369332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r>
              <a:rPr lang="en-US" i="1" dirty="0"/>
              <a:t>https://www.pewresearch.org/internet/2022/08/10/teens-social-media-and-technology-2022/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EF1E42-7EE4-863F-EEFF-E649EBAF76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28" y="5367899"/>
            <a:ext cx="2929346" cy="5858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F268C8-218D-C4F1-D3FB-08D50D51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55" y="79988"/>
            <a:ext cx="7202091" cy="85725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Example: Teen TikTok Users</a:t>
            </a:r>
          </a:p>
        </p:txBody>
      </p:sp>
    </p:spTree>
    <p:extLst>
      <p:ext uri="{BB962C8B-B14F-4D97-AF65-F5344CB8AC3E}">
        <p14:creationId xmlns:p14="http://schemas.microsoft.com/office/powerpoint/2010/main" val="4024902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7" grpId="0" animBg="1"/>
      <p:bldP spid="9" grpId="0"/>
      <p:bldP spid="11" grpId="0"/>
      <p:bldP spid="1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268C8-218D-C4F1-D3FB-08D50D51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7267"/>
            <a:ext cx="7772400" cy="74800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Example: Teen TikTok Users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1A8326-A555-5E49-8F23-8BE04A1F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28" y="979858"/>
            <a:ext cx="7870222" cy="55603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168F8D8-D138-DF33-435C-F9F9D5A3A806}"/>
              </a:ext>
            </a:extLst>
          </p:cNvPr>
          <p:cNvSpPr txBox="1"/>
          <p:nvPr/>
        </p:nvSpPr>
        <p:spPr>
          <a:xfrm>
            <a:off x="304800" y="1950178"/>
            <a:ext cx="3562350" cy="1569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We are 95% sure that the proportion of US teens who have used TikTok is between 0.644 and 0.696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8780B8-73EA-2892-5252-D17D3F294733}"/>
                  </a:ext>
                </a:extLst>
              </p:cNvPr>
              <p:cNvSpPr txBox="1"/>
              <p:nvPr/>
            </p:nvSpPr>
            <p:spPr>
              <a:xfrm>
                <a:off x="5867400" y="2606531"/>
                <a:ext cx="3124200" cy="82246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0.67±2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0.013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=(0.644, 0.696)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F8780B8-73EA-2892-5252-D17D3F294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2606531"/>
                <a:ext cx="3124200" cy="822469"/>
              </a:xfrm>
              <a:prstGeom prst="rect">
                <a:avLst/>
              </a:prstGeom>
              <a:blipFill>
                <a:blip r:embed="rId3"/>
                <a:stretch>
                  <a:fillRect b="-9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054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3050" y="1430594"/>
            <a:ext cx="6000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prstClr val="black"/>
                </a:solidFill>
                <a:latin typeface="Calibri"/>
              </a:rPr>
              <a:t>Why</a:t>
            </a:r>
            <a:r>
              <a:rPr lang="en-US" sz="5400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algn="ctr"/>
            <a:r>
              <a:rPr lang="en-US" sz="5400" dirty="0">
                <a:solidFill>
                  <a:prstClr val="black"/>
                </a:solidFill>
                <a:latin typeface="Calibri"/>
              </a:rPr>
              <a:t>does the bootstrap work? </a:t>
            </a:r>
          </a:p>
        </p:txBody>
      </p:sp>
    </p:spTree>
    <p:extLst>
      <p:ext uri="{BB962C8B-B14F-4D97-AF65-F5344CB8AC3E}">
        <p14:creationId xmlns:p14="http://schemas.microsoft.com/office/powerpoint/2010/main" val="6444601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/>
          <a:lstStyle/>
          <a:p>
            <a:r>
              <a:rPr lang="en-US" dirty="0"/>
              <a:t>Sampling Distribution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loud 5"/>
          <p:cNvSpPr/>
          <p:nvPr/>
        </p:nvSpPr>
        <p:spPr>
          <a:xfrm>
            <a:off x="3962400" y="1600200"/>
            <a:ext cx="3048000" cy="1371600"/>
          </a:xfrm>
          <a:prstGeom prst="cloud">
            <a:avLst/>
          </a:prstGeom>
          <a:solidFill>
            <a:srgbClr val="33CC3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648200" y="190500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Population</a:t>
            </a:r>
          </a:p>
        </p:txBody>
      </p:sp>
      <p:cxnSp>
        <p:nvCxnSpPr>
          <p:cNvPr id="9" name="Straight Connector 8"/>
          <p:cNvCxnSpPr>
            <a:stCxn id="6" idx="1"/>
          </p:cNvCxnSpPr>
          <p:nvPr/>
        </p:nvCxnSpPr>
        <p:spPr>
          <a:xfrm>
            <a:off x="5486400" y="2970340"/>
            <a:ext cx="0" cy="251606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95900" y="5410200"/>
            <a:ext cx="53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µ</a:t>
            </a:r>
          </a:p>
        </p:txBody>
      </p:sp>
      <p:sp>
        <p:nvSpPr>
          <p:cNvPr id="16" name="Oval 15"/>
          <p:cNvSpPr/>
          <p:nvPr/>
        </p:nvSpPr>
        <p:spPr>
          <a:xfrm>
            <a:off x="9448800" y="6801405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9456722" y="5989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9369959" y="63246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9609122" y="6142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9761522" y="6294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9913922" y="6446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0066322" y="6599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0218722" y="6751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0371122" y="6904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10523522" y="7056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0675922" y="7208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0828322" y="7361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0980722" y="7513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1133122" y="7666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1285522" y="7818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9634396" y="5624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1437922" y="7970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1590322" y="8123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1742722" y="8275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1895122" y="8428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2047522" y="8580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2199922" y="8732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9786796" y="5777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9939196" y="5929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0091596" y="6082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0243996" y="6234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10396396" y="6386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10548796" y="6539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10701196" y="6691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10853596" y="6844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11005996" y="6996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11158396" y="7148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1310796" y="7301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1463196" y="7453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11615596" y="7606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1767996" y="7758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11920396" y="7910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12072796" y="8063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12225196" y="8215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2377596" y="8368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12529996" y="8520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280657" y="2281473"/>
            <a:ext cx="4038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BUT, in practice we don’t see the “tree” or all of the “seeds” – we only have ONE seed</a:t>
            </a:r>
          </a:p>
        </p:txBody>
      </p:sp>
    </p:spTree>
    <p:extLst>
      <p:ext uri="{BB962C8B-B14F-4D97-AF65-F5344CB8AC3E}">
        <p14:creationId xmlns:p14="http://schemas.microsoft.com/office/powerpoint/2010/main" val="118532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4583 -0.59681 L -0.34583 -0.20819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0504 -0.47861 L -0.50504 -0.08999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382 -0.52741 L -0.40382 -0.13879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503 -0.50081 L -0.55503 -0.11219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967 -0.52302 L -0.4967 -0.1344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3837 -0.54523 L -0.53837 -0.15661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8836 -0.56743 L -0.38836 -0.17881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67 -0.58964 L -0.5967 -0.20102 " pathEditMode="relative" rAng="0" ptsTypes="AA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8004 -0.61185 L -0.48004 -0.22323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67 -0.65625 L -0.5967 -0.26764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503 -0.68957 L -0.55503 -0.30095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0"/>
                            </p:stCondLst>
                            <p:childTnLst>
                              <p:par>
                                <p:cTn id="6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504 -0.70067 L -0.55504 -0.31206 " pathEditMode="relative" rAng="0" ptsTypes="AA">
                                      <p:cBhvr>
                                        <p:cTn id="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000"/>
                            </p:stCondLst>
                            <p:childTnLst>
                              <p:par>
                                <p:cTn id="6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1336 -0.72287 L -0.61336 -0.33426 " pathEditMode="relative" rAng="0" ptsTypes="AA">
                                      <p:cBhvr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500"/>
                            </p:stCondLst>
                            <p:childTnLst>
                              <p:par>
                                <p:cTn id="7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67 -0.73398 L -0.5467 -0.34536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9000"/>
                            </p:stCondLst>
                            <p:childTnLst>
                              <p:par>
                                <p:cTn id="7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3004 -0.76729 L -0.63004 -0.37868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9500"/>
                            </p:stCondLst>
                            <p:childTnLst>
                              <p:par>
                                <p:cTn id="7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948 -0.4254 L -0.54948 -0.03678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0"/>
                            </p:stCondLst>
                            <p:childTnLst>
                              <p:par>
                                <p:cTn id="7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8836 -0.76729 L -0.83836 -0.38977 " pathEditMode="relative" rAng="0" ptsTypes="AA">
                                      <p:cBhvr>
                                        <p:cTn id="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188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500"/>
                            </p:stCondLst>
                            <p:childTnLst>
                              <p:par>
                                <p:cTn id="8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67 -0.8117 L -0.4967 -0.40088 " pathEditMode="relative" rAng="0" ptsTypes="AA">
                                      <p:cBhvr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1000"/>
                            </p:stCondLst>
                            <p:childTnLst>
                              <p:par>
                                <p:cTn id="8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67 -0.83391 L -0.6467 -0.4453 " pathEditMode="relative" rAng="0" ptsTypes="AA">
                                      <p:cBhvr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1500"/>
                            </p:stCondLst>
                            <p:childTnLst>
                              <p:par>
                                <p:cTn id="8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217 -0.86722 L -0.7217 -0.4786 " pathEditMode="relative" rAng="0" ptsTypes="AA">
                                      <p:cBhvr>
                                        <p:cTn id="8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2000"/>
                            </p:stCondLst>
                            <p:childTnLst>
                              <p:par>
                                <p:cTn id="9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0503 -0.87832 L -0.8717 -0.4675 " pathEditMode="relative" rAng="0" ptsTypes="AA">
                                      <p:cBhvr>
                                        <p:cTn id="9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2500"/>
                            </p:stCondLst>
                            <p:childTnLst>
                              <p:par>
                                <p:cTn id="9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3004 -0.92274 L -0.58837 -0.50081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3" y="210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3000"/>
                            </p:stCondLst>
                            <p:childTnLst>
                              <p:par>
                                <p:cTn id="9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448 -0.45871 L -0.37448 -0.07009 " pathEditMode="relative" rAng="0" ptsTypes="AA">
                                      <p:cBhvr>
                                        <p:cTn id="9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3500"/>
                            </p:stCondLst>
                            <p:childTnLst>
                              <p:par>
                                <p:cTn id="10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782 -0.49202 L -0.35782 -0.0812 " pathEditMode="relative" rAng="0" ptsTypes="AA">
                                      <p:cBhvr>
                                        <p:cTn id="10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4000"/>
                            </p:stCondLst>
                            <p:childTnLst>
                              <p:par>
                                <p:cTn id="10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114 -0.49202 L -0.63281 -0.1145 " pathEditMode="relative" rAng="0" ptsTypes="AA">
                                      <p:cBhvr>
                                        <p:cTn id="10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3" y="188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4500"/>
                            </p:stCondLst>
                            <p:childTnLst>
                              <p:par>
                                <p:cTn id="10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0781 -0.52533 L -0.60781 -0.13671 " pathEditMode="relative" rAng="0" ptsTypes="AA">
                                      <p:cBhvr>
                                        <p:cTn id="10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0"/>
                            </p:stCondLst>
                            <p:childTnLst>
                              <p:par>
                                <p:cTn id="10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7448 -0.58085 L -0.57448 -0.19223 " pathEditMode="relative" rAng="0" ptsTypes="AA">
                                      <p:cBhvr>
                                        <p:cTn id="11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500"/>
                            </p:stCondLst>
                            <p:childTnLst>
                              <p:par>
                                <p:cTn id="11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0781 -0.60305 L -0.50781 -0.21443 " pathEditMode="relative" rAng="0" ptsTypes="AA">
                                      <p:cBhvr>
                                        <p:cTn id="1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6000"/>
                            </p:stCondLst>
                            <p:childTnLst>
                              <p:par>
                                <p:cTn id="11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9115 -0.58085 L -0.69115 -0.19223 " pathEditMode="relative" rAng="0" ptsTypes="AA">
                                      <p:cBhvr>
                                        <p:cTn id="1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6500"/>
                            </p:stCondLst>
                            <p:childTnLst>
                              <p:par>
                                <p:cTn id="11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948 -0.62526 L -0.64948 -0.23665 " pathEditMode="relative" rAng="0" ptsTypes="AA">
                                      <p:cBhvr>
                                        <p:cTn id="1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7000"/>
                            </p:stCondLst>
                            <p:childTnLst>
                              <p:par>
                                <p:cTn id="12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8281 -0.68077 L -0.58281 -0.29216 " pathEditMode="relative" rAng="0" ptsTypes="AA">
                                      <p:cBhvr>
                                        <p:cTn id="1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7500"/>
                            </p:stCondLst>
                            <p:childTnLst>
                              <p:par>
                                <p:cTn id="12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1615 -0.70298 L -0.61615 -0.31437 " pathEditMode="relative" rAng="0" ptsTypes="AA">
                                      <p:cBhvr>
                                        <p:cTn id="1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8000"/>
                            </p:stCondLst>
                            <p:childTnLst>
                              <p:par>
                                <p:cTn id="12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948 -0.72519 L -0.64948 -0.33658 " pathEditMode="relative" rAng="0" ptsTypes="AA">
                                      <p:cBhvr>
                                        <p:cTn id="1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8500"/>
                            </p:stCondLst>
                            <p:childTnLst>
                              <p:par>
                                <p:cTn id="13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948 -0.71458 L -0.90781 -0.3037 " pathEditMode="relative" rAng="0" ptsTypes="AA">
                                      <p:cBhvr>
                                        <p:cTn id="1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17" y="20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9000"/>
                            </p:stCondLst>
                            <p:childTnLst>
                              <p:par>
                                <p:cTn id="13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781 -0.79181 L -0.46615 -0.32547 " pathEditMode="relative" rAng="0" ptsTypes="AA">
                                      <p:cBhvr>
                                        <p:cTn id="13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83" y="233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9500"/>
                            </p:stCondLst>
                            <p:childTnLst>
                              <p:par>
                                <p:cTn id="13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0782 -0.7585 L -0.90782 -0.34768 " pathEditMode="relative" rAng="0" ptsTypes="AA">
                                      <p:cBhvr>
                                        <p:cTn id="13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0000"/>
                            </p:stCondLst>
                            <p:childTnLst>
                              <p:par>
                                <p:cTn id="13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114 -0.7807 L -0.64114 -0.39209 " pathEditMode="relative" rAng="0" ptsTypes="AA">
                                      <p:cBhvr>
                                        <p:cTn id="14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0500"/>
                            </p:stCondLst>
                            <p:childTnLst>
                              <p:par>
                                <p:cTn id="14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281 -0.84733 L -0.89115 -0.40319 " pathEditMode="relative" rAng="0" ptsTypes="AA">
                                      <p:cBhvr>
                                        <p:cTn id="1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222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1000"/>
                            </p:stCondLst>
                            <p:childTnLst>
                              <p:par>
                                <p:cTn id="14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115 -0.84733 L -0.79115 -0.45871 " pathEditMode="relative" rAng="0" ptsTypes="AA">
                                      <p:cBhvr>
                                        <p:cTn id="1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1500"/>
                            </p:stCondLst>
                            <p:childTnLst>
                              <p:par>
                                <p:cTn id="14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7448 -0.84732 L -0.67448 -0.45871 " pathEditMode="relative" rAng="0" ptsTypes="AA">
                                      <p:cBhvr>
                                        <p:cTn id="14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2000"/>
                            </p:stCondLst>
                            <p:childTnLst>
                              <p:par>
                                <p:cTn id="15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6615 -0.88064 L -0.86615 -0.49202 " pathEditMode="relative" rAng="0" ptsTypes="AA">
                                      <p:cBhvr>
                                        <p:cTn id="15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animBg="1"/>
      <p:bldP spid="7" grpId="0"/>
      <p:bldP spid="10" grpId="0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Using only the Sample Data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5486400"/>
            <a:ext cx="9144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loud 5"/>
          <p:cNvSpPr/>
          <p:nvPr/>
        </p:nvSpPr>
        <p:spPr>
          <a:xfrm>
            <a:off x="2819400" y="1600200"/>
            <a:ext cx="3048000" cy="1371600"/>
          </a:xfrm>
          <a:prstGeom prst="cloud">
            <a:avLst/>
          </a:prstGeom>
          <a:solidFill>
            <a:srgbClr val="33CC33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429000" y="1828800"/>
            <a:ext cx="2628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“Simulated</a:t>
            </a:r>
          </a:p>
          <a:p>
            <a:r>
              <a:rPr lang="en-US" sz="2800" dirty="0"/>
              <a:t>Population”</a:t>
            </a:r>
          </a:p>
        </p:txBody>
      </p:sp>
      <p:cxnSp>
        <p:nvCxnSpPr>
          <p:cNvPr id="9" name="Straight Connector 8"/>
          <p:cNvCxnSpPr>
            <a:stCxn id="6" idx="1"/>
          </p:cNvCxnSpPr>
          <p:nvPr/>
        </p:nvCxnSpPr>
        <p:spPr>
          <a:xfrm>
            <a:off x="4343400" y="2970340"/>
            <a:ext cx="0" cy="251606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384641" y="6801405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8392563" y="5989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8305800" y="63246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8544963" y="6142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8697363" y="6294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8849763" y="6446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9002163" y="6599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9154563" y="6751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306963" y="6904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9459363" y="7056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9611763" y="7208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9764163" y="7361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9916563" y="7513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10068963" y="7666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0221363" y="7818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8570237" y="5624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10373763" y="7970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0526163" y="81232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10678563" y="82756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10830963" y="84280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0983363" y="85804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1135763" y="8732894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8722637" y="5777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875037" y="5929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9027437" y="6082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9179837" y="6234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9332237" y="6386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9484637" y="6539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9637037" y="6691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9789437" y="6844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9941837" y="6996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10094237" y="7148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/>
          <p:cNvSpPr/>
          <p:nvPr/>
        </p:nvSpPr>
        <p:spPr>
          <a:xfrm>
            <a:off x="10246637" y="7301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/>
          <p:cNvSpPr/>
          <p:nvPr/>
        </p:nvSpPr>
        <p:spPr>
          <a:xfrm>
            <a:off x="10399037" y="7453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10551437" y="7606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/>
          <p:cNvSpPr/>
          <p:nvPr/>
        </p:nvSpPr>
        <p:spPr>
          <a:xfrm>
            <a:off x="10703837" y="7758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10856237" y="79109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/>
          <p:cNvSpPr/>
          <p:nvPr/>
        </p:nvSpPr>
        <p:spPr>
          <a:xfrm>
            <a:off x="11008637" y="80633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11161037" y="82157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11313437" y="83681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11465837" y="852055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8537041" y="6953805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-11788" y="5494394"/>
            <a:ext cx="9144000" cy="13716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1295400"/>
            <a:ext cx="2514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What can we do with just one seed?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3124200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Grow a NEW tree!</a:t>
            </a:r>
          </a:p>
        </p:txBody>
      </p:sp>
      <p:sp>
        <p:nvSpPr>
          <p:cNvPr id="61" name="Oval 60"/>
          <p:cNvSpPr/>
          <p:nvPr/>
        </p:nvSpPr>
        <p:spPr>
          <a:xfrm>
            <a:off x="4305300" y="5372100"/>
            <a:ext cx="76200" cy="76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4038600" y="5421175"/>
                <a:ext cx="533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dirty="0" smtClean="0">
                              <a:latin typeface="Cambria Math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5421175"/>
                <a:ext cx="533400" cy="584775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248401" y="1921787"/>
                <a:ext cx="2667378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Estimate the distribution and variability (SE)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800" dirty="0"/>
                  <a:t>’s from this new distribution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1" y="1921787"/>
                <a:ext cx="2667378" cy="2246769"/>
              </a:xfrm>
              <a:prstGeom prst="rect">
                <a:avLst/>
              </a:prstGeom>
              <a:blipFill rotWithShape="1">
                <a:blip r:embed="rId3"/>
                <a:stretch>
                  <a:fillRect l="-4566" t="-2439" r="-5023" b="-6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4560212" y="5723087"/>
            <a:ext cx="1485900" cy="1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 flipV="1">
            <a:off x="2676525" y="5713562"/>
            <a:ext cx="1371600" cy="12414"/>
          </a:xfrm>
          <a:prstGeom prst="straightConnector1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95900" y="5410200"/>
            <a:ext cx="53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µ</a:t>
            </a:r>
          </a:p>
        </p:txBody>
      </p:sp>
    </p:spTree>
    <p:extLst>
      <p:ext uri="{BB962C8B-B14F-4D97-AF65-F5344CB8AC3E}">
        <p14:creationId xmlns:p14="http://schemas.microsoft.com/office/powerpoint/2010/main" val="169263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4583 -0.59681 L -0.34583 -0.20819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0504 -0.47861 L -0.50504 -0.08999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382 -0.52741 L -0.40382 -0.13879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503 -0.50081 L -0.55503 -0.11219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967 -0.52302 L -0.4967 -0.1344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3837 -0.54523 L -0.53837 -0.15661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8836 -0.56743 L -0.38836 -0.17881 " pathEditMode="relative" rAng="0" ptsTypes="AA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67 -0.58964 L -0.5967 -0.20102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8004 -0.61185 L -0.48004 -0.22323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67 -0.65625 L -0.5967 -0.26764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500"/>
                            </p:stCondLst>
                            <p:childTnLst>
                              <p:par>
                                <p:cTn id="6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503 -0.68957 L -0.55503 -0.30095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000"/>
                            </p:stCondLst>
                            <p:childTnLst>
                              <p:par>
                                <p:cTn id="6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504 -0.70067 L -0.55504 -0.31206 " pathEditMode="relative" rAng="0" ptsTypes="AA">
                                      <p:cBhvr>
                                        <p:cTn id="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500"/>
                            </p:stCondLst>
                            <p:childTnLst>
                              <p:par>
                                <p:cTn id="6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1336 -0.72287 L -0.61336 -0.33426 " pathEditMode="relative" rAng="0" ptsTypes="AA">
                                      <p:cBhvr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000"/>
                            </p:stCondLst>
                            <p:childTnLst>
                              <p:par>
                                <p:cTn id="7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67 -0.73398 L -0.5467 -0.34536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00"/>
                            </p:stCondLst>
                            <p:childTnLst>
                              <p:par>
                                <p:cTn id="7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3004 -0.76729 L -0.63004 -0.37868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000"/>
                            </p:stCondLst>
                            <p:childTnLst>
                              <p:par>
                                <p:cTn id="7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948 -0.4254 L -0.54948 -0.03678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500"/>
                            </p:stCondLst>
                            <p:childTnLst>
                              <p:par>
                                <p:cTn id="7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8836 -0.76729 L -0.83836 -0.38977 " pathEditMode="relative" rAng="0" ptsTypes="AA">
                                      <p:cBhvr>
                                        <p:cTn id="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188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000"/>
                            </p:stCondLst>
                            <p:childTnLst>
                              <p:par>
                                <p:cTn id="8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467 -0.8117 L -0.4967 -0.40088 " pathEditMode="relative" rAng="0" ptsTypes="AA">
                                      <p:cBhvr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500"/>
                            </p:stCondLst>
                            <p:childTnLst>
                              <p:par>
                                <p:cTn id="8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67 -0.83391 L -0.6467 -0.4453 " pathEditMode="relative" rAng="0" ptsTypes="AA">
                                      <p:cBhvr>
                                        <p:cTn id="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217 -0.86722 L -0.7217 -0.4786 " pathEditMode="relative" rAng="0" ptsTypes="AA">
                                      <p:cBhvr>
                                        <p:cTn id="8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500"/>
                            </p:stCondLst>
                            <p:childTnLst>
                              <p:par>
                                <p:cTn id="9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0503 -0.87832 L -0.8717 -0.4675 " pathEditMode="relative" rAng="0" ptsTypes="AA">
                                      <p:cBhvr>
                                        <p:cTn id="9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1000"/>
                            </p:stCondLst>
                            <p:childTnLst>
                              <p:par>
                                <p:cTn id="9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3004 -0.92274 L -0.58837 -0.50081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3" y="210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448 -0.45871 L -0.37448 -0.07009 " pathEditMode="relative" rAng="0" ptsTypes="AA">
                                      <p:cBhvr>
                                        <p:cTn id="9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782 -0.49202 L -0.35782 -0.0812 " pathEditMode="relative" rAng="0" ptsTypes="AA">
                                      <p:cBhvr>
                                        <p:cTn id="10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114 -0.49202 L -0.63281 -0.1145 " pathEditMode="relative" rAng="0" ptsTypes="AA">
                                      <p:cBhvr>
                                        <p:cTn id="10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3" y="188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0781 -0.52533 L -0.60781 -0.13671 " pathEditMode="relative" rAng="0" ptsTypes="AA">
                                      <p:cBhvr>
                                        <p:cTn id="10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500"/>
                            </p:stCondLst>
                            <p:childTnLst>
                              <p:par>
                                <p:cTn id="10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7448 -0.58085 L -0.57448 -0.19223 " pathEditMode="relative" rAng="0" ptsTypes="AA">
                                      <p:cBhvr>
                                        <p:cTn id="11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0781 -0.60305 L -0.50781 -0.21443 " pathEditMode="relative" rAng="0" ptsTypes="AA">
                                      <p:cBhvr>
                                        <p:cTn id="1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4500"/>
                            </p:stCondLst>
                            <p:childTnLst>
                              <p:par>
                                <p:cTn id="11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9115 -0.58085 L -0.69115 -0.19223 " pathEditMode="relative" rAng="0" ptsTypes="AA">
                                      <p:cBhvr>
                                        <p:cTn id="1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0"/>
                            </p:stCondLst>
                            <p:childTnLst>
                              <p:par>
                                <p:cTn id="11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948 -0.62526 L -0.64948 -0.23665 " pathEditMode="relative" rAng="0" ptsTypes="AA">
                                      <p:cBhvr>
                                        <p:cTn id="1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8281 -0.68077 L -0.58281 -0.29216 " pathEditMode="relative" rAng="0" ptsTypes="AA">
                                      <p:cBhvr>
                                        <p:cTn id="1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1615 -0.70298 L -0.61615 -0.31437 " pathEditMode="relative" rAng="0" ptsTypes="AA">
                                      <p:cBhvr>
                                        <p:cTn id="1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6500"/>
                            </p:stCondLst>
                            <p:childTnLst>
                              <p:par>
                                <p:cTn id="12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948 -0.72519 L -0.64948 -0.33658 " pathEditMode="relative" rAng="0" ptsTypes="AA">
                                      <p:cBhvr>
                                        <p:cTn id="1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7000"/>
                            </p:stCondLst>
                            <p:childTnLst>
                              <p:par>
                                <p:cTn id="13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982 -0.71458 L -0.90816 -0.3037 " pathEditMode="relative" rAng="0" ptsTypes="AA">
                                      <p:cBhvr>
                                        <p:cTn id="1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17" y="20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13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781 -0.79181 L -0.46615 -0.32547 " pathEditMode="relative" rAng="0" ptsTypes="AA">
                                      <p:cBhvr>
                                        <p:cTn id="13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83" y="233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8000"/>
                            </p:stCondLst>
                            <p:childTnLst>
                              <p:par>
                                <p:cTn id="13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0782 -0.7585 L -0.90782 -0.34768 " pathEditMode="relative" rAng="0" ptsTypes="AA">
                                      <p:cBhvr>
                                        <p:cTn id="13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" y="205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8500"/>
                            </p:stCondLst>
                            <p:childTnLst>
                              <p:par>
                                <p:cTn id="13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4114 -0.7807 L -0.64114 -0.39209 " pathEditMode="relative" rAng="0" ptsTypes="AA">
                                      <p:cBhvr>
                                        <p:cTn id="14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3281 -0.84733 L -0.89115 -0.40319 " pathEditMode="relative" rAng="0" ptsTypes="AA">
                                      <p:cBhvr>
                                        <p:cTn id="1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222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9500"/>
                            </p:stCondLst>
                            <p:childTnLst>
                              <p:par>
                                <p:cTn id="14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115 -0.84733 L -0.79115 -0.45871 " pathEditMode="relative" rAng="0" ptsTypes="AA">
                                      <p:cBhvr>
                                        <p:cTn id="1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0000"/>
                            </p:stCondLst>
                            <p:childTnLst>
                              <p:par>
                                <p:cTn id="14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67448 -0.84732 L -0.67448 -0.45871 " pathEditMode="relative" rAng="0" ptsTypes="AA">
                                      <p:cBhvr>
                                        <p:cTn id="14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0500"/>
                            </p:stCondLst>
                            <p:childTnLst>
                              <p:par>
                                <p:cTn id="15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6615 -0.88064 L -0.86615 -0.49202 " pathEditMode="relative" rAng="0" ptsTypes="AA">
                                      <p:cBhvr>
                                        <p:cTn id="15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1000"/>
                            </p:stCondLst>
                            <p:childTnLst>
                              <p:par>
                                <p:cTn id="15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4618 -0.61944 L -0.34618 -0.23078 " pathEditMode="relative" rAng="0" ptsTypes="AA">
                                      <p:cBhvr>
                                        <p:cTn id="15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9" grpId="0" animBg="1"/>
      <p:bldP spid="3" grpId="0"/>
      <p:bldP spid="8" grpId="0" animBg="1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14FBE-D81B-4F80-B99C-2561C539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4690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Want More About Bootstrapping?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96E32F-1DAE-43C9-A036-0ABEB7F17394}"/>
              </a:ext>
            </a:extLst>
          </p:cNvPr>
          <p:cNvSpPr txBox="1"/>
          <p:nvPr/>
        </p:nvSpPr>
        <p:spPr>
          <a:xfrm>
            <a:off x="990600" y="1295400"/>
            <a:ext cx="7543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hlinkClick r:id="rId2"/>
              </a:rPr>
              <a:t>What Teachers Should Know About the Bootstrap: Resampling in the Undergraduate Statistics Curriculum</a:t>
            </a:r>
            <a:endParaRPr lang="en-US" sz="3200" b="1" dirty="0"/>
          </a:p>
          <a:p>
            <a:pPr>
              <a:spcBef>
                <a:spcPts val="1200"/>
              </a:spcBef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Tim Hesterberg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December 2015 American Statistician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42DDE-351D-4DBA-ACF6-5C5208726846}"/>
              </a:ext>
            </a:extLst>
          </p:cNvPr>
          <p:cNvSpPr txBox="1"/>
          <p:nvPr/>
        </p:nvSpPr>
        <p:spPr>
          <a:xfrm>
            <a:off x="1143000" y="4343400"/>
            <a:ext cx="7239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Or find another version at</a:t>
            </a: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https://arxiv.org/abs/1411.5279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6156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158" y="401269"/>
            <a:ext cx="8226442" cy="5055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900"/>
              </a:spcAft>
            </a:pPr>
            <a:r>
              <a:rPr lang="en-US" sz="4800" b="1" u="sng" dirty="0">
                <a:solidFill>
                  <a:prstClr val="black"/>
                </a:solidFill>
              </a:rPr>
              <a:t>SBI Inference</a:t>
            </a:r>
          </a:p>
          <a:p>
            <a:pPr algn="ctr">
              <a:spcAft>
                <a:spcPts val="900"/>
              </a:spcAft>
            </a:pPr>
            <a:endParaRPr lang="en-US" sz="1350" dirty="0">
              <a:solidFill>
                <a:prstClr val="black"/>
              </a:solidFill>
            </a:endParaRPr>
          </a:p>
          <a:p>
            <a:pPr algn="ctr">
              <a:spcAft>
                <a:spcPts val="900"/>
              </a:spcAft>
            </a:pPr>
            <a:r>
              <a:rPr lang="en-US" sz="3200" dirty="0">
                <a:solidFill>
                  <a:prstClr val="black"/>
                </a:solidFill>
              </a:rPr>
              <a:t>Visual!</a:t>
            </a:r>
          </a:p>
          <a:p>
            <a:pPr algn="ctr">
              <a:spcAft>
                <a:spcPts val="900"/>
              </a:spcAft>
            </a:pPr>
            <a:r>
              <a:rPr lang="en-US" sz="3200" dirty="0">
                <a:solidFill>
                  <a:prstClr val="black"/>
                </a:solidFill>
              </a:rPr>
              <a:t>Intuitive!</a:t>
            </a:r>
          </a:p>
          <a:p>
            <a:pPr algn="ctr">
              <a:spcAft>
                <a:spcPts val="900"/>
              </a:spcAft>
            </a:pPr>
            <a:r>
              <a:rPr lang="en-US" sz="3200" dirty="0">
                <a:solidFill>
                  <a:prstClr val="black"/>
                </a:solidFill>
              </a:rPr>
              <a:t>Easily incorporates active learning!</a:t>
            </a:r>
          </a:p>
          <a:p>
            <a:pPr algn="ctr">
              <a:spcAft>
                <a:spcPts val="900"/>
              </a:spcAft>
            </a:pPr>
            <a:r>
              <a:rPr lang="en-US" sz="3200" dirty="0">
                <a:solidFill>
                  <a:prstClr val="black"/>
                </a:solidFill>
              </a:rPr>
              <a:t>Ties directly to key concepts of random variation and strength of evidence! </a:t>
            </a:r>
          </a:p>
          <a:p>
            <a:pPr algn="ctr">
              <a:spcAft>
                <a:spcPts val="900"/>
              </a:spcAft>
            </a:pPr>
            <a:r>
              <a:rPr lang="en-US" sz="2400" dirty="0">
                <a:solidFill>
                  <a:prstClr val="black"/>
                </a:solidFill>
              </a:rPr>
              <a:t>(Note:  No theoretical distributions.  No complicated formulas.     No algebra. Same process for all parameters.)</a:t>
            </a:r>
          </a:p>
        </p:txBody>
      </p:sp>
      <p:sp>
        <p:nvSpPr>
          <p:cNvPr id="3" name="Oval 2"/>
          <p:cNvSpPr/>
          <p:nvPr/>
        </p:nvSpPr>
        <p:spPr>
          <a:xfrm>
            <a:off x="1564291" y="4788986"/>
            <a:ext cx="1629624" cy="583949"/>
          </a:xfrm>
          <a:prstGeom prst="ellipse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 flipH="1" flipV="1">
            <a:off x="2743200" y="5350585"/>
            <a:ext cx="1200150" cy="628650"/>
          </a:xfrm>
          <a:prstGeom prst="straightConnector1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2" descr="Image result for meme of happy"/>
          <p:cNvSpPr>
            <a:spLocks noChangeAspect="1" noChangeArrowheads="1"/>
          </p:cNvSpPr>
          <p:nvPr/>
        </p:nvSpPr>
        <p:spPr bwMode="auto">
          <a:xfrm>
            <a:off x="1259681" y="748903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7" name="AutoShape 4" descr="Image result for meme of happy"/>
          <p:cNvSpPr>
            <a:spLocks noChangeAspect="1" noChangeArrowheads="1"/>
          </p:cNvSpPr>
          <p:nvPr/>
        </p:nvSpPr>
        <p:spPr bwMode="auto">
          <a:xfrm>
            <a:off x="1373981" y="863204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sp>
        <p:nvSpPr>
          <p:cNvPr id="8" name="AutoShape 6" descr="Image result for meme of happy"/>
          <p:cNvSpPr>
            <a:spLocks noChangeAspect="1" noChangeArrowheads="1"/>
          </p:cNvSpPr>
          <p:nvPr/>
        </p:nvSpPr>
        <p:spPr bwMode="auto">
          <a:xfrm>
            <a:off x="1488281" y="977504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350" y="5638994"/>
            <a:ext cx="958146" cy="833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634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421709" y="228600"/>
            <a:ext cx="8582736" cy="84957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solidFill>
                  <a:srgbClr val="8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What about Traditional Inference?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37" y="914400"/>
            <a:ext cx="8059009" cy="4876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Freeform 1"/>
          <p:cNvSpPr/>
          <p:nvPr/>
        </p:nvSpPr>
        <p:spPr>
          <a:xfrm>
            <a:off x="899410" y="1874889"/>
            <a:ext cx="7480092" cy="3043004"/>
          </a:xfrm>
          <a:custGeom>
            <a:avLst/>
            <a:gdLst>
              <a:gd name="connsiteX0" fmla="*/ 0 w 7480092"/>
              <a:gd name="connsiteY0" fmla="*/ 3043004 h 3043004"/>
              <a:gd name="connsiteX1" fmla="*/ 629587 w 7480092"/>
              <a:gd name="connsiteY1" fmla="*/ 2953063 h 3043004"/>
              <a:gd name="connsiteX2" fmla="*/ 1304144 w 7480092"/>
              <a:gd name="connsiteY2" fmla="*/ 2848131 h 3043004"/>
              <a:gd name="connsiteX3" fmla="*/ 1768839 w 7480092"/>
              <a:gd name="connsiteY3" fmla="*/ 2413417 h 3043004"/>
              <a:gd name="connsiteX4" fmla="*/ 2458387 w 7480092"/>
              <a:gd name="connsiteY4" fmla="*/ 1454046 h 3043004"/>
              <a:gd name="connsiteX5" fmla="*/ 2803160 w 7480092"/>
              <a:gd name="connsiteY5" fmla="*/ 614597 h 3043004"/>
              <a:gd name="connsiteX6" fmla="*/ 3162924 w 7480092"/>
              <a:gd name="connsiteY6" fmla="*/ 239843 h 3043004"/>
              <a:gd name="connsiteX7" fmla="*/ 3387777 w 7480092"/>
              <a:gd name="connsiteY7" fmla="*/ 59961 h 3043004"/>
              <a:gd name="connsiteX8" fmla="*/ 3672590 w 7480092"/>
              <a:gd name="connsiteY8" fmla="*/ 0 h 3043004"/>
              <a:gd name="connsiteX9" fmla="*/ 3867462 w 7480092"/>
              <a:gd name="connsiteY9" fmla="*/ 44971 h 3043004"/>
              <a:gd name="connsiteX10" fmla="*/ 4077324 w 7480092"/>
              <a:gd name="connsiteY10" fmla="*/ 209863 h 3043004"/>
              <a:gd name="connsiteX11" fmla="*/ 4691921 w 7480092"/>
              <a:gd name="connsiteY11" fmla="*/ 959371 h 3043004"/>
              <a:gd name="connsiteX12" fmla="*/ 5036695 w 7480092"/>
              <a:gd name="connsiteY12" fmla="*/ 1798820 h 3043004"/>
              <a:gd name="connsiteX13" fmla="*/ 5456420 w 7480092"/>
              <a:gd name="connsiteY13" fmla="*/ 2383436 h 3043004"/>
              <a:gd name="connsiteX14" fmla="*/ 5921115 w 7480092"/>
              <a:gd name="connsiteY14" fmla="*/ 2758190 h 3043004"/>
              <a:gd name="connsiteX15" fmla="*/ 6580682 w 7480092"/>
              <a:gd name="connsiteY15" fmla="*/ 2968053 h 3043004"/>
              <a:gd name="connsiteX16" fmla="*/ 7480092 w 7480092"/>
              <a:gd name="connsiteY16" fmla="*/ 2998033 h 3043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480092" h="3043004">
                <a:moveTo>
                  <a:pt x="0" y="3043004"/>
                </a:moveTo>
                <a:lnTo>
                  <a:pt x="629587" y="2953063"/>
                </a:lnTo>
                <a:lnTo>
                  <a:pt x="1304144" y="2848131"/>
                </a:lnTo>
                <a:lnTo>
                  <a:pt x="1768839" y="2413417"/>
                </a:lnTo>
                <a:lnTo>
                  <a:pt x="2458387" y="1454046"/>
                </a:lnTo>
                <a:lnTo>
                  <a:pt x="2803160" y="614597"/>
                </a:lnTo>
                <a:lnTo>
                  <a:pt x="3162924" y="239843"/>
                </a:lnTo>
                <a:lnTo>
                  <a:pt x="3387777" y="59961"/>
                </a:lnTo>
                <a:lnTo>
                  <a:pt x="3672590" y="0"/>
                </a:lnTo>
                <a:lnTo>
                  <a:pt x="3867462" y="44971"/>
                </a:lnTo>
                <a:lnTo>
                  <a:pt x="4077324" y="209863"/>
                </a:lnTo>
                <a:lnTo>
                  <a:pt x="4691921" y="959371"/>
                </a:lnTo>
                <a:lnTo>
                  <a:pt x="5036695" y="1798820"/>
                </a:lnTo>
                <a:lnTo>
                  <a:pt x="5456420" y="2383436"/>
                </a:lnTo>
                <a:lnTo>
                  <a:pt x="5921115" y="2758190"/>
                </a:lnTo>
                <a:lnTo>
                  <a:pt x="6580682" y="2968053"/>
                </a:lnTo>
                <a:lnTo>
                  <a:pt x="7480092" y="2998033"/>
                </a:ln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70045" y="5791200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Approximate the bootstrap/randomization distribution with a theoretical curve (CLT is easy!)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381150"/>
            <a:ext cx="2991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formula for SE</a:t>
            </a:r>
          </a:p>
        </p:txBody>
      </p:sp>
      <p:sp>
        <p:nvSpPr>
          <p:cNvPr id="14" name="Oval 13"/>
          <p:cNvSpPr/>
          <p:nvPr/>
        </p:nvSpPr>
        <p:spPr>
          <a:xfrm>
            <a:off x="6309018" y="1964367"/>
            <a:ext cx="2205428" cy="3810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5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13" grpId="0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76200" y="381000"/>
            <a:ext cx="8582736" cy="84957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solidFill>
                  <a:srgbClr val="8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Moving to Traditional: Intervals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76383" y="1447800"/>
                <a:ext cx="7839711" cy="646331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3600" b="1" dirty="0"/>
                  <a:t>Bootstrap CI: 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/>
                      </a:rPr>
                      <m:t> </m:t>
                    </m:r>
                    <m:r>
                      <a:rPr lang="en-US" sz="3600" i="1">
                        <a:latin typeface="Cambria Math"/>
                      </a:rPr>
                      <m:t>𝑆𝑡𝑎𝑡𝑖𝑠𝑡𝑖𝑐</m:t>
                    </m:r>
                    <m:r>
                      <a:rPr lang="en-US" sz="3600" i="1">
                        <a:latin typeface="Cambria Math"/>
                      </a:rPr>
                      <m:t> ±2∙</m:t>
                    </m:r>
                    <m:r>
                      <a:rPr lang="en-US" sz="3600" i="1">
                        <a:latin typeface="Cambria Math"/>
                        <a:ea typeface="Cambria Math"/>
                      </a:rPr>
                      <m:t>𝑆𝐸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83" y="1447800"/>
                <a:ext cx="7839711" cy="646331"/>
              </a:xfrm>
              <a:prstGeom prst="rect">
                <a:avLst/>
              </a:prstGeom>
              <a:blipFill>
                <a:blip r:embed="rId3"/>
                <a:stretch>
                  <a:fillRect l="-2252" t="-13889" b="-3240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76383" y="4191000"/>
                <a:ext cx="7531151" cy="97693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3600" b="1" dirty="0"/>
                  <a:t>Traditional CI:   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4000" i="1">
                        <a:latin typeface="Cambria Math"/>
                      </a:rPr>
                      <m:t> ±</m:t>
                    </m:r>
                    <m:sSup>
                      <m:sSup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4000" i="1">
                        <a:latin typeface="Cambria Math"/>
                      </a:rPr>
                      <m:t>∙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40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83" y="4191000"/>
                <a:ext cx="7531151" cy="976934"/>
              </a:xfrm>
              <a:prstGeom prst="rect">
                <a:avLst/>
              </a:prstGeom>
              <a:blipFill>
                <a:blip r:embed="rId4"/>
                <a:stretch>
                  <a:fillRect l="-2342" b="-123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981200" y="2635552"/>
            <a:ext cx="350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distribution with confidence level</a:t>
            </a:r>
          </a:p>
          <a:p>
            <a:pPr algn="ctr"/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(conditions)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4876800" y="1981200"/>
            <a:ext cx="914400" cy="24384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791200" y="1981200"/>
            <a:ext cx="805248" cy="22860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38800" y="3114265"/>
            <a:ext cx="350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 for 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1" y="5562600"/>
            <a:ext cx="8534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is quick and easy since the basic understanding and interpretation of CI’s is already done!</a:t>
            </a:r>
          </a:p>
        </p:txBody>
      </p:sp>
    </p:spTree>
    <p:extLst>
      <p:ext uri="{BB962C8B-B14F-4D97-AF65-F5344CB8AC3E}">
        <p14:creationId xmlns:p14="http://schemas.microsoft.com/office/powerpoint/2010/main" val="3056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2" grpId="0"/>
      <p:bldP spid="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76200" y="381000"/>
            <a:ext cx="8582736" cy="84957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solidFill>
                  <a:srgbClr val="8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Moving to Traditional: Tests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47712" y="1230573"/>
                <a:ext cx="7839711" cy="182774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3200" b="1" dirty="0"/>
                  <a:t>Standardized test statistic: 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/>
                      </a:rPr>
                      <m:t> </m:t>
                    </m:r>
                  </m:oMath>
                </a14:m>
                <a:endParaRPr lang="en-US" sz="3200" i="1" dirty="0">
                  <a:latin typeface="Cambria Math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𝑆𝑡𝑎𝑡𝑖𝑠𝑡𝑖𝑐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𝑁𝑢𝑙𝑙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𝑆𝐸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12" y="1230573"/>
                <a:ext cx="7839711" cy="1827744"/>
              </a:xfrm>
              <a:prstGeom prst="rect">
                <a:avLst/>
              </a:prstGeom>
              <a:blipFill>
                <a:blip r:embed="rId3"/>
                <a:stretch>
                  <a:fillRect l="-1863" t="-364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381000" y="3276600"/>
            <a:ext cx="82054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Need:</a:t>
            </a:r>
          </a:p>
          <a:p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Formula for SE for each parameter</a:t>
            </a:r>
          </a:p>
          <a:p>
            <a:r>
              <a:rPr lang="en-US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Standard distribution (z or t) for p-value</a:t>
            </a:r>
          </a:p>
        </p:txBody>
      </p:sp>
      <p:sp>
        <p:nvSpPr>
          <p:cNvPr id="2" name="Rectangle 1"/>
          <p:cNvSpPr/>
          <p:nvPr/>
        </p:nvSpPr>
        <p:spPr>
          <a:xfrm>
            <a:off x="152400" y="5020270"/>
            <a:ext cx="8839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is quick and easy since the students already know how to state hypotheses and interpret a p-value!</a:t>
            </a:r>
          </a:p>
        </p:txBody>
      </p:sp>
    </p:spTree>
    <p:extLst>
      <p:ext uri="{BB962C8B-B14F-4D97-AF65-F5344CB8AC3E}">
        <p14:creationId xmlns:p14="http://schemas.microsoft.com/office/powerpoint/2010/main" val="119825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76200" y="381000"/>
            <a:ext cx="8582736" cy="849573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 b="1" dirty="0">
                <a:solidFill>
                  <a:srgbClr val="8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Beer &amp; Mosquitoes (Traditional)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674" y="1204681"/>
            <a:ext cx="1944147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mbria" pitchFamily="18" charset="0"/>
              </a:rPr>
              <a:t>H</a:t>
            </a:r>
            <a:r>
              <a:rPr lang="en-US" sz="2800" baseline="-25000" dirty="0">
                <a:latin typeface="Cambria" pitchFamily="18" charset="0"/>
              </a:rPr>
              <a:t>0</a:t>
            </a:r>
            <a:r>
              <a:rPr lang="en-US" sz="2800" dirty="0">
                <a:latin typeface="Cambria" pitchFamily="18" charset="0"/>
              </a:rPr>
              <a:t>: </a:t>
            </a:r>
            <a:r>
              <a:rPr lang="el-GR" sz="2800" dirty="0">
                <a:latin typeface="Cambria" pitchFamily="18" charset="0"/>
              </a:rPr>
              <a:t>μ</a:t>
            </a:r>
            <a:r>
              <a:rPr lang="en-US" sz="2800" baseline="-25000" dirty="0">
                <a:latin typeface="Cambria" pitchFamily="18" charset="0"/>
              </a:rPr>
              <a:t>B</a:t>
            </a:r>
            <a:r>
              <a:rPr lang="en-US" sz="2800" dirty="0">
                <a:latin typeface="Cambria" pitchFamily="18" charset="0"/>
              </a:rPr>
              <a:t> = </a:t>
            </a:r>
            <a:r>
              <a:rPr lang="el-GR" sz="2800" dirty="0">
                <a:latin typeface="Cambria" pitchFamily="18" charset="0"/>
              </a:rPr>
              <a:t>μ</a:t>
            </a:r>
            <a:r>
              <a:rPr lang="en-US" sz="2800" baseline="-25000" dirty="0">
                <a:latin typeface="Cambria" pitchFamily="18" charset="0"/>
              </a:rPr>
              <a:t>W</a:t>
            </a:r>
            <a:endParaRPr lang="en-US" sz="2800" dirty="0">
              <a:latin typeface="Cambria" pitchFamily="18" charset="0"/>
            </a:endParaRPr>
          </a:p>
          <a:p>
            <a:r>
              <a:rPr lang="en-US" sz="2800" dirty="0">
                <a:latin typeface="Cambria" pitchFamily="18" charset="0"/>
              </a:rPr>
              <a:t>H</a:t>
            </a:r>
            <a:r>
              <a:rPr lang="en-US" sz="2800" baseline="-25000" dirty="0">
                <a:latin typeface="Cambria" pitchFamily="18" charset="0"/>
              </a:rPr>
              <a:t>a</a:t>
            </a:r>
            <a:r>
              <a:rPr lang="en-US" sz="2800" dirty="0">
                <a:latin typeface="Cambria" pitchFamily="18" charset="0"/>
              </a:rPr>
              <a:t>: </a:t>
            </a:r>
            <a:r>
              <a:rPr lang="el-GR" sz="2800" dirty="0">
                <a:latin typeface="Cambria" pitchFamily="18" charset="0"/>
              </a:rPr>
              <a:t>μ</a:t>
            </a:r>
            <a:r>
              <a:rPr lang="en-US" sz="2800" baseline="-25000" dirty="0">
                <a:latin typeface="Cambria" pitchFamily="18" charset="0"/>
              </a:rPr>
              <a:t>B</a:t>
            </a:r>
            <a:r>
              <a:rPr lang="en-US" sz="2800" dirty="0">
                <a:latin typeface="Cambria" pitchFamily="18" charset="0"/>
              </a:rPr>
              <a:t> &gt; </a:t>
            </a:r>
            <a:r>
              <a:rPr lang="el-GR" sz="2800" dirty="0">
                <a:latin typeface="Cambria" pitchFamily="18" charset="0"/>
              </a:rPr>
              <a:t>μ</a:t>
            </a:r>
            <a:r>
              <a:rPr lang="en-US" sz="2800" baseline="-25000" dirty="0">
                <a:latin typeface="Cambria" pitchFamily="18" charset="0"/>
              </a:rPr>
              <a:t>W</a:t>
            </a:r>
            <a:endParaRPr lang="en-US" sz="2800" dirty="0">
              <a:latin typeface="Cambria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819400" y="1204681"/>
                <a:ext cx="4572000" cy="1245534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23.6−19.22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4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4.1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25</m:t>
                                  </m:r>
                                </m:den>
                              </m:f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3.7</m:t>
                                      </m:r>
                                    </m:e>
                                    <m:sub/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sz="24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18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4.38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1.20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=3.66</m:t>
                      </m:r>
                    </m:oMath>
                  </m:oMathPara>
                </a14:m>
                <a:endParaRPr 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1204681"/>
                <a:ext cx="4572000" cy="124553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08" y="2483943"/>
            <a:ext cx="5410200" cy="4019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096000" y="5105400"/>
            <a:ext cx="289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Same “tail” process as randomization to find p-value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434239" y="3190938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  <a:cs typeface="Arial" panose="020B0604020202020204" pitchFamily="34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  <a:cs typeface="Arial" panose="020B0604020202020204" pitchFamily="34" charset="0"/>
                            </a:rPr>
                            <m:t>17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239" y="3190938"/>
                <a:ext cx="685800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65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10A20-A01B-16F4-BEE2-3EEE695F1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A03D-B96A-FA18-2403-8A857F99E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800"/>
            <a:ext cx="9220200" cy="1905000"/>
          </a:xfrm>
          <a:solidFill>
            <a:srgbClr val="FFFF99"/>
          </a:solidFill>
        </p:spPr>
        <p:txBody>
          <a:bodyPr>
            <a:noAutofit/>
          </a:bodyPr>
          <a:lstStyle/>
          <a:p>
            <a:r>
              <a:rPr lang="en-US" sz="3000" dirty="0"/>
              <a:t>4. Integrate real data with a context and purpose throughout the course. Select data that are meaningful and engaging to the students.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C44F4-E122-FC4B-B731-34E6948490C6}"/>
              </a:ext>
            </a:extLst>
          </p:cNvPr>
          <p:cNvSpPr txBox="1"/>
          <p:nvPr/>
        </p:nvSpPr>
        <p:spPr>
          <a:xfrm>
            <a:off x="381000" y="2238999"/>
            <a:ext cx="80772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Aspects of “real” data: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Authenticity: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Collected for actual research or decision-making purposes.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Relevance: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Tied to topics meaningful and engaging to students.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Complexity: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Includes real-world features like outliers or missing data.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Context: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Comes with background information to support interpretation and application.</a:t>
            </a:r>
          </a:p>
        </p:txBody>
      </p:sp>
    </p:spTree>
    <p:extLst>
      <p:ext uri="{BB962C8B-B14F-4D97-AF65-F5344CB8AC3E}">
        <p14:creationId xmlns:p14="http://schemas.microsoft.com/office/powerpoint/2010/main" val="18336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AC927-25A1-9536-0254-DF83F4443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6" y="76200"/>
            <a:ext cx="8229600" cy="1143000"/>
          </a:xfrm>
        </p:spPr>
        <p:txBody>
          <a:bodyPr/>
          <a:lstStyle/>
          <a:p>
            <a:r>
              <a:rPr lang="en-US" dirty="0"/>
              <a:t>Where to Find Real Data?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1B6FFB-927E-1D0F-173D-C9C6B510A968}"/>
              </a:ext>
            </a:extLst>
          </p:cNvPr>
          <p:cNvSpPr txBox="1"/>
          <p:nvPr/>
        </p:nvSpPr>
        <p:spPr>
          <a:xfrm>
            <a:off x="609600" y="1447800"/>
            <a:ext cx="7924800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Online repositories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Textbook datasets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Class generated activities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Faculty colleagues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Community engagement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Government agencies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R packages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Web sources</a:t>
            </a:r>
          </a:p>
        </p:txBody>
      </p:sp>
    </p:spTree>
    <p:extLst>
      <p:ext uri="{BB962C8B-B14F-4D97-AF65-F5344CB8AC3E}">
        <p14:creationId xmlns:p14="http://schemas.microsoft.com/office/powerpoint/2010/main" val="16699750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15D9-87AC-FAFD-17A4-51ACACDE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Data Sources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7EDAF8-FB67-0533-2D0A-429708976DD6}"/>
              </a:ext>
            </a:extLst>
          </p:cNvPr>
          <p:cNvSpPr txBox="1"/>
          <p:nvPr/>
        </p:nvSpPr>
        <p:spPr>
          <a:xfrm>
            <a:off x="685800" y="88139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https://myslu.stlawu.edu/~rlock/DataSources.html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7DB3D7-F8E4-1991-9025-818F408DE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43" y="1404610"/>
            <a:ext cx="7914861" cy="553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3727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C93B8-4C1D-57C6-6767-AF1E0A39D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Dataset and Story Library</a:t>
            </a:r>
            <a:br>
              <a:rPr lang="en-US" sz="3200" dirty="0">
                <a:hlinkClick r:id="rId2"/>
              </a:rPr>
            </a:br>
            <a:r>
              <a:rPr lang="en-US" sz="3200" dirty="0">
                <a:hlinkClick r:id="rId2"/>
              </a:rPr>
              <a:t>https://dasl.datadescription.com</a:t>
            </a:r>
            <a:r>
              <a:rPr lang="en-US" sz="3200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0475E-0AA1-1B33-E2D8-16DDF734E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" y="1066800"/>
            <a:ext cx="9144000" cy="571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013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92C09-C17E-F788-EF17-2B667A4A5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BAA00-9F45-2B86-1E11-451AD15CD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SCORE Data Repository</a:t>
            </a:r>
            <a:br>
              <a:rPr lang="en-US" sz="3200" dirty="0">
                <a:hlinkClick r:id="rId2"/>
              </a:rPr>
            </a:br>
            <a:r>
              <a:rPr lang="en-US" sz="3200" dirty="0">
                <a:hlinkClick r:id="rId2"/>
              </a:rPr>
              <a:t>https://data.scorenetwork.org/</a:t>
            </a:r>
            <a:r>
              <a:rPr lang="en-US" sz="3200" dirty="0"/>
              <a:t>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5EB87D-C667-BB31-4D00-8BAF9DA9A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9144000" cy="562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808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92680-2C02-F58C-6E5D-FB54E42F8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Assignment!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24C7D-ABA5-315B-C7DE-AE35F768A6F6}"/>
              </a:ext>
            </a:extLst>
          </p:cNvPr>
          <p:cNvSpPr txBox="1"/>
          <p:nvPr/>
        </p:nvSpPr>
        <p:spPr>
          <a:xfrm>
            <a:off x="695739" y="1143000"/>
            <a:ext cx="754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Find a dataset for one of these projects: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AB394-0122-1733-C426-1B273B889101}"/>
              </a:ext>
            </a:extLst>
          </p:cNvPr>
          <p:cNvSpPr txBox="1"/>
          <p:nvPr/>
        </p:nvSpPr>
        <p:spPr>
          <a:xfrm>
            <a:off x="708991" y="2057400"/>
            <a:ext cx="7620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Project #1: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Describe the variables and relationships in a dataset that has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 to 5 variables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At least one categorical and two quantitative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At least 30 cases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EAA306-77B0-463F-D34B-0AD665FF0442}"/>
              </a:ext>
            </a:extLst>
          </p:cNvPr>
          <p:cNvSpPr txBox="1"/>
          <p:nvPr/>
        </p:nvSpPr>
        <p:spPr>
          <a:xfrm>
            <a:off x="708991" y="4630481"/>
            <a:ext cx="7620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Project #3: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Build regression models to predict a quantitative response variable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Have 3 to 5 potential predictors in the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At least 30 cases</a:t>
            </a:r>
          </a:p>
        </p:txBody>
      </p:sp>
    </p:spTree>
    <p:extLst>
      <p:ext uri="{BB962C8B-B14F-4D97-AF65-F5344CB8AC3E}">
        <p14:creationId xmlns:p14="http://schemas.microsoft.com/office/powerpoint/2010/main" val="20974250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5A4AA91-85D5-D516-E576-25843EB8C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410200"/>
            <a:ext cx="8229600" cy="8382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dirty="0">
                <a:hlinkClick r:id="rId2"/>
              </a:rPr>
              <a:t>plock@stlawu.edu</a:t>
            </a:r>
            <a:r>
              <a:rPr lang="en-US" dirty="0"/>
              <a:t>   </a:t>
            </a:r>
            <a:r>
              <a:rPr lang="en-US" dirty="0">
                <a:hlinkClick r:id="rId3"/>
              </a:rPr>
              <a:t>rlock@stlawu.edu</a:t>
            </a:r>
            <a:r>
              <a:rPr lang="en-US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6ADBD6-698F-63F0-F2A0-382C7D73593A}"/>
              </a:ext>
            </a:extLst>
          </p:cNvPr>
          <p:cNvSpPr txBox="1"/>
          <p:nvPr/>
        </p:nvSpPr>
        <p:spPr>
          <a:xfrm>
            <a:off x="1371600" y="1447800"/>
            <a:ext cx="74328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What would you like to hear more about on Saturday? </a:t>
            </a:r>
          </a:p>
        </p:txBody>
      </p:sp>
    </p:spTree>
    <p:extLst>
      <p:ext uri="{BB962C8B-B14F-4D97-AF65-F5344CB8AC3E}">
        <p14:creationId xmlns:p14="http://schemas.microsoft.com/office/powerpoint/2010/main" val="19876361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3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14720</TotalTime>
  <Words>3032</Words>
  <Application>Microsoft Office PowerPoint</Application>
  <PresentationFormat>On-screen Show (4:3)</PresentationFormat>
  <Paragraphs>621</Paragraphs>
  <Slides>55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Arial</vt:lpstr>
      <vt:lpstr>Calibri</vt:lpstr>
      <vt:lpstr>Cambria</vt:lpstr>
      <vt:lpstr>Cambria Math</vt:lpstr>
      <vt:lpstr>Symbol</vt:lpstr>
      <vt:lpstr>Times New Roman</vt:lpstr>
      <vt:lpstr>Wingdings 2</vt:lpstr>
      <vt:lpstr>Office Theme</vt:lpstr>
      <vt:lpstr>GAISE Recommendations for Intro Stat : Improving Understanding and Success Rates</vt:lpstr>
      <vt:lpstr>GAISE Guidelines for Assessment and Instruction in Statistics Education</vt:lpstr>
      <vt:lpstr>Update to GAISE College Report</vt:lpstr>
      <vt:lpstr>GAISE Recommendations</vt:lpstr>
      <vt:lpstr>GAISE Recommendations</vt:lpstr>
      <vt:lpstr>GAISE Recommendations</vt:lpstr>
      <vt:lpstr>3. Focus on conceptual understanding rather than algebraic manipulation and formulas.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Randomization Test</vt:lpstr>
      <vt:lpstr>p-value: The chance of obtaining a statistic as extreme as that observed, just by random chance, if the null hypothesis is true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Confidence Intervals</vt:lpstr>
      <vt:lpstr>Example: Mustang Prices</vt:lpstr>
      <vt:lpstr>Bootstrapping</vt:lpstr>
      <vt:lpstr>PowerPoint Presentation</vt:lpstr>
      <vt:lpstr>PowerPoint Presentation</vt:lpstr>
      <vt:lpstr>PowerPoint Presentation</vt:lpstr>
      <vt:lpstr>PowerPoint Presentation</vt:lpstr>
      <vt:lpstr>How do we get a CI from the bootstrap distribution? </vt:lpstr>
      <vt:lpstr>PowerPoint Presentation</vt:lpstr>
      <vt:lpstr>How do we get a CI from the bootstrap distribution? </vt:lpstr>
      <vt:lpstr>95% CI via Percentiles</vt:lpstr>
      <vt:lpstr>PowerPoint Presentation</vt:lpstr>
      <vt:lpstr>Example: Teen TikTok Users</vt:lpstr>
      <vt:lpstr>Example: Teen TikTok Users</vt:lpstr>
      <vt:lpstr>PowerPoint Presentation</vt:lpstr>
      <vt:lpstr>Sampling Distribution</vt:lpstr>
      <vt:lpstr>Using only the Sample Data</vt:lpstr>
      <vt:lpstr>Want More About Bootstrapping?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Integrate real data with a context and purpose throughout the course. Select data that are meaningful and engaging to the students.</vt:lpstr>
      <vt:lpstr>Where to Find Real Data? </vt:lpstr>
      <vt:lpstr>Examples of Data Sources</vt:lpstr>
      <vt:lpstr>Dataset and Story Library https://dasl.datadescription.com  </vt:lpstr>
      <vt:lpstr>SCORE Data Repository https://data.scorenetwork.org/   </vt:lpstr>
      <vt:lpstr>Your Assignment!</vt:lpstr>
      <vt:lpstr>Quick Survey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Give your data the boot:   What is bootstrapping  and Why does it matter?</dc:title>
  <dc:creator>Patti</dc:creator>
  <cp:lastModifiedBy>Robin Lock</cp:lastModifiedBy>
  <cp:revision>583</cp:revision>
  <cp:lastPrinted>2015-05-18T18:30:22Z</cp:lastPrinted>
  <dcterms:created xsi:type="dcterms:W3CDTF">2010-10-14T16:11:16Z</dcterms:created>
  <dcterms:modified xsi:type="dcterms:W3CDTF">2026-08-03T23:37:14Z</dcterms:modified>
</cp:coreProperties>
</file>