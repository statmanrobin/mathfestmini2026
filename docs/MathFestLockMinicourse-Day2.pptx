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33"/>
  </p:notesMasterIdLst>
  <p:handoutMasterIdLst>
    <p:handoutMasterId r:id="rId34"/>
  </p:handoutMasterIdLst>
  <p:sldIdLst>
    <p:sldId id="256" r:id="rId2"/>
    <p:sldId id="818" r:id="rId3"/>
    <p:sldId id="319" r:id="rId4"/>
    <p:sldId id="805" r:id="rId5"/>
    <p:sldId id="835" r:id="rId6"/>
    <p:sldId id="704" r:id="rId7"/>
    <p:sldId id="807" r:id="rId8"/>
    <p:sldId id="819" r:id="rId9"/>
    <p:sldId id="820" r:id="rId10"/>
    <p:sldId id="808" r:id="rId11"/>
    <p:sldId id="821" r:id="rId12"/>
    <p:sldId id="822" r:id="rId13"/>
    <p:sldId id="809" r:id="rId14"/>
    <p:sldId id="810" r:id="rId15"/>
    <p:sldId id="827" r:id="rId16"/>
    <p:sldId id="826" r:id="rId17"/>
    <p:sldId id="811" r:id="rId18"/>
    <p:sldId id="706" r:id="rId19"/>
    <p:sldId id="836" r:id="rId20"/>
    <p:sldId id="812" r:id="rId21"/>
    <p:sldId id="829" r:id="rId22"/>
    <p:sldId id="830" r:id="rId23"/>
    <p:sldId id="837" r:id="rId24"/>
    <p:sldId id="813" r:id="rId25"/>
    <p:sldId id="831" r:id="rId26"/>
    <p:sldId id="814" r:id="rId27"/>
    <p:sldId id="816" r:id="rId28"/>
    <p:sldId id="833" r:id="rId29"/>
    <p:sldId id="817" r:id="rId30"/>
    <p:sldId id="834" r:id="rId31"/>
    <p:sldId id="838" r:id="rId3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ri Lock Morgan" initials="kl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5"/>
    <p:restoredTop sz="82264" autoAdjust="0"/>
  </p:normalViewPr>
  <p:slideViewPr>
    <p:cSldViewPr>
      <p:cViewPr varScale="1">
        <p:scale>
          <a:sx n="68" d="100"/>
          <a:sy n="68" d="100"/>
        </p:scale>
        <p:origin x="16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r">
              <a:defRPr sz="1200"/>
            </a:lvl1pPr>
          </a:lstStyle>
          <a:p>
            <a:fld id="{B778E17A-4EC1-45CF-A77D-9CE3FA83CB3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4820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4820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200"/>
            </a:lvl1pPr>
          </a:lstStyle>
          <a:p>
            <a:fld id="{21329530-7583-4E9B-B61F-38D061D2B9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816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r">
              <a:defRPr sz="1200"/>
            </a:lvl1pPr>
          </a:lstStyle>
          <a:p>
            <a:fld id="{CA377D7C-6E98-443D-9186-B6C061ABD91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6" tIns="46588" rIns="93176" bIns="4658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3176" tIns="46588" rIns="93176" bIns="4658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4820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4820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200"/>
            </a:lvl1pPr>
          </a:lstStyle>
          <a:p>
            <a:fld id="{AD881A71-1E8A-43E8-B5C2-524F1D0E2A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3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Dennis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1F48E1-058B-4963-8D55-C60E043110E3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4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14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D44E-DD94-D930-D755-A91CDE97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B96CA-ABE7-DB5B-A746-F636E223B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F1B08-05C9-153D-0361-A582783E8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FFB48-551E-8A0E-B8AA-0079C5DC2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2AE93-7745-56EA-4299-F3F7BEF01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91624-8068-A2F3-54EA-6838A13B5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833F3-7FC9-F5A1-DBF6-97F17E061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8FF14-31FC-6F17-3E37-F77F9206F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3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live to </a:t>
            </a:r>
            <a:r>
              <a:rPr lang="en-US" dirty="0" err="1"/>
              <a:t>gapminder</a:t>
            </a:r>
            <a:r>
              <a:rPr lang="en-US" dirty="0"/>
              <a:t> after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19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D0424-9DF6-9E50-0568-3A4B44523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A504F-68C1-D604-66B8-36CC38050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8572A-C817-FEC9-CE25-8E1A07EBE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live to </a:t>
            </a:r>
            <a:r>
              <a:rPr lang="en-US" dirty="0" err="1"/>
              <a:t>gapminder</a:t>
            </a:r>
            <a:r>
              <a:rPr lang="en-US" dirty="0"/>
              <a:t> after this.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745E1-62D3-AA30-2773-103691758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57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96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97BB-44E5-5766-477A-8E5CF94B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5913A-E4A3-241B-E58E-BEBEB22D0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81D4D-D1D0-461F-6CC1-FF4C657EA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BCF7C-D61B-E511-7D39-819C22991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93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0F16-3B05-3D19-CF70-2ABBA24E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1EE63-23D1-FA5C-253B-A6CC3D0FB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1A018-EE9E-4231-74CC-ADE3483A1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F9134-8F84-B609-43B2-3683DE4F8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93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4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7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0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23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77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1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1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5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04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4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648FE-2D5A-45AB-95EB-9243473478A6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24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800000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180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manrobin.github.io/MathFestMini2026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asacollegegaise.org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4.xml"/><Relationship Id="rId5" Type="http://schemas.openxmlformats.org/officeDocument/2006/relationships/hyperlink" Target="http://www.gapminder.org/" TargetMode="Externa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apminder.org/tools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5.xml"/><Relationship Id="rId5" Type="http://schemas.openxmlformats.org/officeDocument/2006/relationships/hyperlink" Target="http://www.gapminder.org/" TargetMode="External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9.xml"/><Relationship Id="rId5" Type="http://schemas.openxmlformats.org/officeDocument/2006/relationships/hyperlink" Target="http://www.istics.net/" TargetMode="External"/><Relationship Id="rId4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1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jpeg"/><Relationship Id="rId7" Type="http://schemas.openxmlformats.org/officeDocument/2006/relationships/hyperlink" Target="http://www.asacollegegaise.org/" TargetMode="Externa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6.xml"/><Relationship Id="rId6" Type="http://schemas.openxmlformats.org/officeDocument/2006/relationships/image" Target="../media/image2.png"/><Relationship Id="rId5" Type="http://schemas.openxmlformats.org/officeDocument/2006/relationships/hyperlink" Target="mailto:rlock@stlawu.edu" TargetMode="External"/><Relationship Id="rId4" Type="http://schemas.openxmlformats.org/officeDocument/2006/relationships/hyperlink" Target="mailto:plock@stlawu.edu" TargetMode="External"/><Relationship Id="rId9" Type="http://schemas.openxmlformats.org/officeDocument/2006/relationships/hyperlink" Target="https://docs.google.com/forms/d/e/1FAIpQLSd2JNOT09AWYlI-5S8q4QyMTYsV0GKn0AV7R921rexumXgHuw/viewform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28600"/>
            <a:ext cx="7543800" cy="3581400"/>
          </a:xfrm>
          <a:solidFill>
            <a:srgbClr val="FFFF99"/>
          </a:solidFill>
          <a:ln w="41275">
            <a:solidFill>
              <a:srgbClr val="C00000"/>
            </a:solidFill>
          </a:ln>
        </p:spPr>
        <p:txBody>
          <a:bodyPr>
            <a:noAutofit/>
          </a:bodyPr>
          <a:lstStyle/>
          <a:p>
            <a:r>
              <a:rPr lang="en-US" sz="4800" b="1" dirty="0"/>
              <a:t>GAISE Recommendations for Intro Stat : Improving Understanding and Success Rates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C686738-10F0-2204-5D7A-D81E9084FD59}"/>
              </a:ext>
            </a:extLst>
          </p:cNvPr>
          <p:cNvSpPr txBox="1">
            <a:spLocks/>
          </p:cNvSpPr>
          <p:nvPr/>
        </p:nvSpPr>
        <p:spPr>
          <a:xfrm>
            <a:off x="419100" y="4131365"/>
            <a:ext cx="8382000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0"/>
              </a:spcBef>
              <a:spcAft>
                <a:spcPts val="180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</a:rPr>
              <a:t>Patti Frazer Lock, St. Lawrence University</a:t>
            </a:r>
          </a:p>
          <a:p>
            <a:pPr>
              <a:spcAft>
                <a:spcPts val="1200"/>
              </a:spcAft>
            </a:pPr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</a:rPr>
              <a:t>Robin Lock, St. Lawrence University</a:t>
            </a:r>
          </a:p>
          <a:p>
            <a:pPr>
              <a:spcAft>
                <a:spcPts val="1200"/>
              </a:spcAft>
            </a:pPr>
            <a:r>
              <a:rPr lang="en-US" sz="3800">
                <a:solidFill>
                  <a:schemeClr val="tx1">
                    <a:lumMod val="85000"/>
                    <a:lumOff val="15000"/>
                  </a:schemeClr>
                </a:solidFill>
              </a:rPr>
              <a:t>MathFest 2026</a:t>
            </a:r>
            <a:endParaRPr lang="en-US" sz="3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87988-071A-BC56-ECA2-371F3B3F44FB}"/>
              </a:ext>
            </a:extLst>
          </p:cNvPr>
          <p:cNvSpPr txBox="1"/>
          <p:nvPr/>
        </p:nvSpPr>
        <p:spPr>
          <a:xfrm>
            <a:off x="831574" y="6188765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https://statmanrobin.github.io/MathFestMini2026/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CD39-EDC5-38FC-20D3-9D77E92F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84048"/>
            <a:ext cx="8534400" cy="758952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What About AI?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E84A3-A771-262B-9E86-14D8101AFE56}"/>
              </a:ext>
            </a:extLst>
          </p:cNvPr>
          <p:cNvSpPr txBox="1"/>
          <p:nvPr/>
        </p:nvSpPr>
        <p:spPr>
          <a:xfrm>
            <a:off x="381000" y="1654076"/>
            <a:ext cx="8455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/>
              <a:t>Challenge</a:t>
            </a:r>
            <a:r>
              <a:rPr lang="en-US" sz="3200" dirty="0"/>
              <a:t>:</a:t>
            </a:r>
          </a:p>
          <a:p>
            <a:endParaRPr lang="en-US" sz="3200" dirty="0"/>
          </a:p>
          <a:p>
            <a:r>
              <a:rPr lang="en-US" sz="3200" dirty="0"/>
              <a:t>Write an outside-class assignment that is AI proof.</a:t>
            </a:r>
            <a:endParaRPr 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3543542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C74B7-FE93-BD25-4184-F1A3E91B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EC99A3-1603-4FD8-09CB-C8A9137DB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54" y="428014"/>
            <a:ext cx="8274590" cy="714986"/>
          </a:xfrm>
          <a:ln w="38100">
            <a:solidFill>
              <a:srgbClr val="C00000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4500" dirty="0">
                <a:solidFill>
                  <a:srgbClr val="C00000"/>
                </a:solidFill>
              </a:rPr>
              <a:t>Solution Ideas?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E89C00-A5DC-3DE1-E116-978E36A604CD}"/>
              </a:ext>
            </a:extLst>
          </p:cNvPr>
          <p:cNvSpPr txBox="1"/>
          <p:nvPr/>
        </p:nvSpPr>
        <p:spPr>
          <a:xfrm>
            <a:off x="1060315" y="4114800"/>
            <a:ext cx="7397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Increased explicit focus on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29DA3E-D00C-3D53-0B3C-3C438E467D79}"/>
              </a:ext>
            </a:extLst>
          </p:cNvPr>
          <p:cNvSpPr txBox="1"/>
          <p:nvPr/>
        </p:nvSpPr>
        <p:spPr>
          <a:xfrm>
            <a:off x="873059" y="2895600"/>
            <a:ext cx="7397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More in-class graded assessments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A5872-0735-8EE2-01B7-8077F76698A4}"/>
              </a:ext>
            </a:extLst>
          </p:cNvPr>
          <p:cNvSpPr txBox="1"/>
          <p:nvPr/>
        </p:nvSpPr>
        <p:spPr>
          <a:xfrm>
            <a:off x="904673" y="1808202"/>
            <a:ext cx="7397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Oral exams/assessments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E6706-6C7D-5E68-0EE3-8E945DA0F068}"/>
              </a:ext>
            </a:extLst>
          </p:cNvPr>
          <p:cNvSpPr txBox="1"/>
          <p:nvPr/>
        </p:nvSpPr>
        <p:spPr>
          <a:xfrm>
            <a:off x="1361873" y="4953000"/>
            <a:ext cx="7096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“You don’t take a fork-lift to the gym.”</a:t>
            </a:r>
          </a:p>
        </p:txBody>
      </p:sp>
    </p:spTree>
    <p:extLst>
      <p:ext uri="{BB962C8B-B14F-4D97-AF65-F5344CB8AC3E}">
        <p14:creationId xmlns:p14="http://schemas.microsoft.com/office/powerpoint/2010/main" val="4010693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D43C2-4E06-5B87-CF8E-06EAC306D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04800"/>
            <a:ext cx="8534400" cy="2057400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solidFill>
                  <a:srgbClr val="C00000"/>
                </a:solidFill>
              </a:rPr>
              <a:t>GAISE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Guidelines for Assessment and Instruction in Statistics Education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A56C4-1382-E4E7-00EE-9EB8972FD657}"/>
              </a:ext>
            </a:extLst>
          </p:cNvPr>
          <p:cNvSpPr txBox="1"/>
          <p:nvPr/>
        </p:nvSpPr>
        <p:spPr>
          <a:xfrm>
            <a:off x="381000" y="2758857"/>
            <a:ext cx="2819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Written in 2005</a:t>
            </a:r>
          </a:p>
          <a:p>
            <a:endParaRPr lang="en-US" sz="2800" dirty="0"/>
          </a:p>
          <a:p>
            <a:r>
              <a:rPr lang="en-US" sz="2800" dirty="0"/>
              <a:t>Revised in 2016</a:t>
            </a:r>
          </a:p>
          <a:p>
            <a:endParaRPr lang="en-US" sz="2800" dirty="0"/>
          </a:p>
          <a:p>
            <a:r>
              <a:rPr lang="en-US" sz="2800" dirty="0"/>
              <a:t>Revised in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C2A4A-99C2-58B2-7FDC-38C23EF26F70}"/>
              </a:ext>
            </a:extLst>
          </p:cNvPr>
          <p:cNvSpPr txBox="1"/>
          <p:nvPr/>
        </p:nvSpPr>
        <p:spPr>
          <a:xfrm>
            <a:off x="3200400" y="2743200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rgbClr val="C00000"/>
                </a:solidFill>
              </a:rPr>
              <a:t>Robin Lock on the writing team</a:t>
            </a:r>
          </a:p>
          <a:p>
            <a:endParaRPr lang="en-US" sz="2800" i="1" dirty="0">
              <a:solidFill>
                <a:srgbClr val="C00000"/>
              </a:solidFill>
            </a:endParaRPr>
          </a:p>
          <a:p>
            <a:r>
              <a:rPr lang="en-US" sz="2800" i="1" dirty="0">
                <a:solidFill>
                  <a:srgbClr val="C00000"/>
                </a:solidFill>
              </a:rPr>
              <a:t>Robin Lock on the writing team</a:t>
            </a:r>
          </a:p>
          <a:p>
            <a:endParaRPr lang="en-US" sz="2800" i="1" dirty="0">
              <a:solidFill>
                <a:srgbClr val="C00000"/>
              </a:solidFill>
            </a:endParaRPr>
          </a:p>
          <a:p>
            <a:r>
              <a:rPr lang="en-US" sz="2800" i="1" dirty="0">
                <a:solidFill>
                  <a:srgbClr val="C00000"/>
                </a:solidFill>
              </a:rPr>
              <a:t>Patti Frazer Lock on the writing team</a:t>
            </a:r>
          </a:p>
        </p:txBody>
      </p:sp>
    </p:spTree>
    <p:extLst>
      <p:ext uri="{BB962C8B-B14F-4D97-AF65-F5344CB8AC3E}">
        <p14:creationId xmlns:p14="http://schemas.microsoft.com/office/powerpoint/2010/main" val="14282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6520C-D944-732A-8381-B53308E5B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2026 College GAISE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29919-A21F-F69F-4B5A-4FEA83296B94}"/>
              </a:ext>
            </a:extLst>
          </p:cNvPr>
          <p:cNvSpPr txBox="1"/>
          <p:nvPr/>
        </p:nvSpPr>
        <p:spPr>
          <a:xfrm>
            <a:off x="1981200" y="1143000"/>
            <a:ext cx="502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www.asacollegegaise.org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9F8DA-9E17-22ED-4957-2CC956C9173D}"/>
              </a:ext>
            </a:extLst>
          </p:cNvPr>
          <p:cNvSpPr txBox="1"/>
          <p:nvPr/>
        </p:nvSpPr>
        <p:spPr>
          <a:xfrm>
            <a:off x="762000" y="2057400"/>
            <a:ext cx="777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Recommendations for Statistics and Data Science</a:t>
            </a:r>
          </a:p>
          <a:p>
            <a:pPr algn="ctr"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Learning Outcomes for Intro Stats</a:t>
            </a:r>
          </a:p>
          <a:p>
            <a:pPr algn="ctr"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Current Landscape in Data Science</a:t>
            </a:r>
          </a:p>
          <a:p>
            <a:pPr algn="ctr"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Assessment Items</a:t>
            </a:r>
          </a:p>
          <a:p>
            <a:pPr algn="ctr">
              <a:spcAft>
                <a:spcPts val="18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more…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DA9BBE-07FD-DF82-6D73-4D2E98F33915}"/>
              </a:ext>
            </a:extLst>
          </p:cNvPr>
          <p:cNvSpPr/>
          <p:nvPr/>
        </p:nvSpPr>
        <p:spPr>
          <a:xfrm>
            <a:off x="990600" y="1981200"/>
            <a:ext cx="7315200" cy="58477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101DE7-F6C1-55F3-4CC2-8240048C3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5196903"/>
            <a:ext cx="5791200" cy="158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2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0E89B1-12B1-12E7-DEB7-82103A9935AF}"/>
              </a:ext>
            </a:extLst>
          </p:cNvPr>
          <p:cNvSpPr txBox="1"/>
          <p:nvPr/>
        </p:nvSpPr>
        <p:spPr>
          <a:xfrm>
            <a:off x="1676400" y="0"/>
            <a:ext cx="6477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2026 College GAISE Recommendations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7A3EC6-B55D-F97D-35FD-93947D708E20}"/>
              </a:ext>
            </a:extLst>
          </p:cNvPr>
          <p:cNvSpPr/>
          <p:nvPr/>
        </p:nvSpPr>
        <p:spPr>
          <a:xfrm>
            <a:off x="6400800" y="706261"/>
            <a:ext cx="2001371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B83A5E-1982-0E06-6292-A4B762C9472E}"/>
              </a:ext>
            </a:extLst>
          </p:cNvPr>
          <p:cNvSpPr/>
          <p:nvPr/>
        </p:nvSpPr>
        <p:spPr>
          <a:xfrm>
            <a:off x="4343400" y="1392060"/>
            <a:ext cx="26670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7A2ABF-9496-1328-2B12-ABC95E44A2CC}"/>
              </a:ext>
            </a:extLst>
          </p:cNvPr>
          <p:cNvSpPr/>
          <p:nvPr/>
        </p:nvSpPr>
        <p:spPr>
          <a:xfrm>
            <a:off x="1524000" y="2057400"/>
            <a:ext cx="26670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AEDCA5-530A-5622-2ABC-B32F98140474}"/>
              </a:ext>
            </a:extLst>
          </p:cNvPr>
          <p:cNvSpPr/>
          <p:nvPr/>
        </p:nvSpPr>
        <p:spPr>
          <a:xfrm>
            <a:off x="1524000" y="2748899"/>
            <a:ext cx="9906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C80367-33AF-7AB9-A0FC-CC498C5DB174}"/>
              </a:ext>
            </a:extLst>
          </p:cNvPr>
          <p:cNvSpPr/>
          <p:nvPr/>
        </p:nvSpPr>
        <p:spPr>
          <a:xfrm>
            <a:off x="1676400" y="3402867"/>
            <a:ext cx="23622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FB6733-30CF-D3CB-37A2-4FD143DEE120}"/>
              </a:ext>
            </a:extLst>
          </p:cNvPr>
          <p:cNvSpPr txBox="1"/>
          <p:nvPr/>
        </p:nvSpPr>
        <p:spPr>
          <a:xfrm>
            <a:off x="152400" y="291057"/>
            <a:ext cx="88392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u="sng" dirty="0"/>
              <a:t>Recommendations for Statistics and Data Science</a:t>
            </a:r>
            <a:r>
              <a:rPr lang="en-US" sz="2000" dirty="0"/>
              <a:t>      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Teach statistics and data science as processes of gleaning insights from data to inform evidence-based decisions.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Emphasize effective written and oral communication of results from data, with attention to the scope and limitations of conclusions. 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Focus on conceptual understanding rather than algebraic manipulation and formulas.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Integrate real data with a context and purpose throughout the course.  Select data that are meaningful and engaging to the students.  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Encourage multivariable thinking.   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Incorporate software/apps to explore concepts and work with data.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Emphasize responsible and ethical conduct in the collection and use of data and in their analysis.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Employ evidence-based pedagogies that actively engage students in the learning process.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Use a variety of formative and summative assessments to improve teaching and learning.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Implement a course design that uses inclusive strategies to foster a sense of belonging. 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CD2D9A-CA4E-2A43-399E-DA52F2682DAA}"/>
              </a:ext>
            </a:extLst>
          </p:cNvPr>
          <p:cNvSpPr/>
          <p:nvPr/>
        </p:nvSpPr>
        <p:spPr>
          <a:xfrm>
            <a:off x="1828800" y="3838031"/>
            <a:ext cx="16002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8FEC99-B769-417A-912C-AA6E809C039B}"/>
              </a:ext>
            </a:extLst>
          </p:cNvPr>
          <p:cNvSpPr/>
          <p:nvPr/>
        </p:nvSpPr>
        <p:spPr>
          <a:xfrm>
            <a:off x="3352800" y="4147994"/>
            <a:ext cx="16764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F02C77-7569-5370-E0F8-D91262543451}"/>
              </a:ext>
            </a:extLst>
          </p:cNvPr>
          <p:cNvSpPr/>
          <p:nvPr/>
        </p:nvSpPr>
        <p:spPr>
          <a:xfrm>
            <a:off x="3048000" y="4864934"/>
            <a:ext cx="33528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BA2D7C-D7A4-D100-C1E3-5999BCFBC8FA}"/>
              </a:ext>
            </a:extLst>
          </p:cNvPr>
          <p:cNvSpPr/>
          <p:nvPr/>
        </p:nvSpPr>
        <p:spPr>
          <a:xfrm>
            <a:off x="4876800" y="5561975"/>
            <a:ext cx="14478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021983-ED64-A323-C7F4-D1013530A3B8}"/>
              </a:ext>
            </a:extLst>
          </p:cNvPr>
          <p:cNvSpPr/>
          <p:nvPr/>
        </p:nvSpPr>
        <p:spPr>
          <a:xfrm>
            <a:off x="4343400" y="6210844"/>
            <a:ext cx="19812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78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3" grpId="0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D7EB6-6D41-D536-9054-AE8FC4079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8077200" cy="2015192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1. Teach statistics and data science as processes of gleaning insights from data to inform evidence-based decisions.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C34D7B-22ED-A297-C6C5-E224F8F955EC}"/>
              </a:ext>
            </a:extLst>
          </p:cNvPr>
          <p:cNvSpPr txBox="1"/>
          <p:nvPr/>
        </p:nvSpPr>
        <p:spPr>
          <a:xfrm>
            <a:off x="1828800" y="2861608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helps us understand the world better!  </a:t>
            </a:r>
          </a:p>
          <a:p>
            <a:r>
              <a:rPr lang="en-US" sz="2400" dirty="0"/>
              <a:t>Build stronger insights!  </a:t>
            </a:r>
          </a:p>
          <a:p>
            <a:r>
              <a:rPr lang="en-US" sz="2400" dirty="0"/>
              <a:t>Make better decisions!</a:t>
            </a:r>
          </a:p>
          <a:p>
            <a:r>
              <a:rPr lang="en-US" sz="2400" dirty="0"/>
              <a:t>Across almost ALL fields!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17F22-43C6-09B0-34C3-8B7B7A9FB227}"/>
              </a:ext>
            </a:extLst>
          </p:cNvPr>
          <p:cNvSpPr txBox="1"/>
          <p:nvPr/>
        </p:nvSpPr>
        <p:spPr>
          <a:xfrm>
            <a:off x="685800" y="4800600"/>
            <a:ext cx="800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We want the examples we give and the data we use to be so engaging that students WANT to engage and want to learn.</a:t>
            </a:r>
          </a:p>
        </p:txBody>
      </p:sp>
    </p:spTree>
    <p:extLst>
      <p:ext uri="{BB962C8B-B14F-4D97-AF65-F5344CB8AC3E}">
        <p14:creationId xmlns:p14="http://schemas.microsoft.com/office/powerpoint/2010/main" val="29311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84D0-C7ED-42FD-34B3-BCDBFE10D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85800"/>
            <a:ext cx="2436875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Insights from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999BB-3FE0-5B70-74FC-A8D24F199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633" y="228600"/>
            <a:ext cx="6115767" cy="607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84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4E98A-9F9C-5AF0-BD0F-FE97D0F4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5492-23CD-7E25-F873-87DF8FE4C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2436875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Insights from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01B93-0F38-DA5B-50F2-ECE454C1A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586" y="280161"/>
            <a:ext cx="5420014" cy="60444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62C9D3-EFFE-EA56-C84B-808D99F498FA}"/>
              </a:ext>
            </a:extLst>
          </p:cNvPr>
          <p:cNvSpPr txBox="1"/>
          <p:nvPr/>
        </p:nvSpPr>
        <p:spPr>
          <a:xfrm>
            <a:off x="1752600" y="1752600"/>
            <a:ext cx="7010400" cy="41549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Students randomly assigned</a:t>
            </a:r>
          </a:p>
          <a:p>
            <a:pPr algn="ctr"/>
            <a:r>
              <a:rPr lang="en-US" sz="2400" dirty="0"/>
              <a:t>One group had active learning</a:t>
            </a:r>
          </a:p>
          <a:p>
            <a:pPr algn="ctr"/>
            <a:r>
              <a:rPr lang="en-US" sz="2400" dirty="0"/>
              <a:t>One group had passive learning</a:t>
            </a:r>
          </a:p>
          <a:p>
            <a:pPr algn="ctr"/>
            <a:endParaRPr lang="en-US" sz="1200" dirty="0"/>
          </a:p>
          <a:p>
            <a:pPr algn="ctr"/>
            <a:r>
              <a:rPr lang="en-US" sz="2400" dirty="0"/>
              <a:t>How much did they </a:t>
            </a:r>
            <a:r>
              <a:rPr lang="en-US" sz="2400" i="1" dirty="0"/>
              <a:t>think</a:t>
            </a:r>
            <a:r>
              <a:rPr lang="en-US" sz="2400" dirty="0"/>
              <a:t> they learned?</a:t>
            </a:r>
          </a:p>
          <a:p>
            <a:pPr algn="ctr"/>
            <a:endParaRPr lang="en-US" sz="1200" dirty="0"/>
          </a:p>
          <a:p>
            <a:pPr algn="ctr"/>
            <a:r>
              <a:rPr lang="en-US" sz="2400" dirty="0"/>
              <a:t>How much did they </a:t>
            </a:r>
            <a:r>
              <a:rPr lang="en-US" sz="2400" i="1" dirty="0"/>
              <a:t>actually</a:t>
            </a:r>
            <a:r>
              <a:rPr lang="en-US" sz="2400" dirty="0"/>
              <a:t> learn?</a:t>
            </a:r>
          </a:p>
          <a:p>
            <a:pPr algn="ctr"/>
            <a:endParaRPr lang="en-US" sz="2400" dirty="0"/>
          </a:p>
          <a:p>
            <a:pPr algn="ctr"/>
            <a:r>
              <a:rPr lang="en-US" sz="2400" i="1" dirty="0"/>
              <a:t>“Students </a:t>
            </a:r>
            <a:r>
              <a:rPr lang="en-US" sz="2400" i="1" u="sng" dirty="0"/>
              <a:t>thought</a:t>
            </a:r>
            <a:r>
              <a:rPr lang="en-US" sz="2400" i="1" dirty="0"/>
              <a:t> they learned more in the passive learning class but they </a:t>
            </a:r>
            <a:r>
              <a:rPr lang="en-US" sz="2400" i="1" u="sng" dirty="0"/>
              <a:t>actually</a:t>
            </a:r>
            <a:r>
              <a:rPr lang="en-US" sz="2400" i="1" dirty="0"/>
              <a:t> learned more in the active learning class.”</a:t>
            </a:r>
          </a:p>
          <a:p>
            <a:pPr algn="ctr"/>
            <a:r>
              <a:rPr lang="en-US" sz="2400" dirty="0"/>
              <a:t>Strongly significant in both cases.</a:t>
            </a:r>
          </a:p>
        </p:txBody>
      </p:sp>
    </p:spTree>
    <p:extLst>
      <p:ext uri="{BB962C8B-B14F-4D97-AF65-F5344CB8AC3E}">
        <p14:creationId xmlns:p14="http://schemas.microsoft.com/office/powerpoint/2010/main" val="702295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933E-B077-1B60-C91E-BA115CF74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1648"/>
            <a:ext cx="8534400" cy="2206752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2. Emphasize effective written and oral communication of results from data, with attention to the scope and limitations of conclusions. 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C27DB-16CA-E554-1454-0E1257F32854}"/>
              </a:ext>
            </a:extLst>
          </p:cNvPr>
          <p:cNvSpPr txBox="1"/>
          <p:nvPr/>
        </p:nvSpPr>
        <p:spPr>
          <a:xfrm>
            <a:off x="533400" y="2694325"/>
            <a:ext cx="8077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dirty="0"/>
              <a:t>Interpret!  Interpret!  Interpret!</a:t>
            </a:r>
          </a:p>
          <a:p>
            <a:pPr algn="ctr">
              <a:spcAft>
                <a:spcPts val="600"/>
              </a:spcAft>
            </a:pPr>
            <a:endParaRPr lang="en-US" sz="1200" dirty="0"/>
          </a:p>
          <a:p>
            <a:pPr algn="ctr">
              <a:spcAft>
                <a:spcPts val="600"/>
              </a:spcAft>
            </a:pPr>
            <a:r>
              <a:rPr lang="en-US" sz="2400" dirty="0"/>
              <a:t>What conclusions can we draw from these data?  </a:t>
            </a:r>
          </a:p>
          <a:p>
            <a:pPr algn="ctr">
              <a:spcAft>
                <a:spcPts val="600"/>
              </a:spcAft>
            </a:pPr>
            <a:endParaRPr lang="en-US" sz="1200" dirty="0"/>
          </a:p>
          <a:p>
            <a:pPr algn="ctr">
              <a:spcAft>
                <a:spcPts val="600"/>
              </a:spcAft>
            </a:pPr>
            <a:r>
              <a:rPr lang="en-US" sz="2400" dirty="0"/>
              <a:t>Interpret the results in context.</a:t>
            </a:r>
          </a:p>
          <a:p>
            <a:pPr algn="ctr">
              <a:spcAft>
                <a:spcPts val="600"/>
              </a:spcAft>
            </a:pPr>
            <a:endParaRPr lang="en-US" sz="2400" dirty="0"/>
          </a:p>
          <a:p>
            <a:pPr algn="ctr">
              <a:spcAft>
                <a:spcPts val="600"/>
              </a:spcAft>
            </a:pPr>
            <a:r>
              <a:rPr lang="en-US" sz="2000" dirty="0"/>
              <a:t>“Data Storytelling” can be a key part of every IS and IDS course.  </a:t>
            </a:r>
          </a:p>
          <a:p>
            <a:pPr algn="ctr">
              <a:spcAft>
                <a:spcPts val="600"/>
              </a:spcAft>
            </a:pPr>
            <a:endParaRPr lang="en-US" sz="2000" dirty="0"/>
          </a:p>
          <a:p>
            <a:pPr algn="ctr">
              <a:spcAft>
                <a:spcPts val="600"/>
              </a:spcAft>
            </a:pPr>
            <a:r>
              <a:rPr lang="en-US" sz="2000" dirty="0"/>
              <a:t>Wide variety of possible assessments! </a:t>
            </a:r>
          </a:p>
        </p:txBody>
      </p:sp>
    </p:spTree>
    <p:extLst>
      <p:ext uri="{BB962C8B-B14F-4D97-AF65-F5344CB8AC3E}">
        <p14:creationId xmlns:p14="http://schemas.microsoft.com/office/powerpoint/2010/main" val="1567313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AD69D-28F9-AE1B-B4B5-07B4E644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390A-2178-A33A-9F85-E7A3DC45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2819400" cy="1143000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Effective</a:t>
            </a:r>
            <a:br>
              <a:rPr lang="en-US" sz="2800" dirty="0">
                <a:solidFill>
                  <a:srgbClr val="C00000"/>
                </a:solidFill>
              </a:rPr>
            </a:br>
            <a:r>
              <a:rPr lang="en-US" sz="2800" dirty="0">
                <a:solidFill>
                  <a:srgbClr val="C00000"/>
                </a:solidFill>
              </a:rPr>
              <a:t>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13B694-A722-DB1B-8DE3-CA96C9DDE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662" y="304800"/>
            <a:ext cx="5220280" cy="57470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21683F-0C80-CC76-D6B5-2696BD589534}"/>
              </a:ext>
            </a:extLst>
          </p:cNvPr>
          <p:cNvSpPr txBox="1"/>
          <p:nvPr/>
        </p:nvSpPr>
        <p:spPr>
          <a:xfrm>
            <a:off x="2057400" y="1775157"/>
            <a:ext cx="6781800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One group had dementia.</a:t>
            </a:r>
          </a:p>
          <a:p>
            <a:pPr algn="ctr"/>
            <a:r>
              <a:rPr lang="en-US" sz="2400" dirty="0"/>
              <a:t>One group didn’t.</a:t>
            </a:r>
          </a:p>
          <a:p>
            <a:pPr algn="ctr"/>
            <a:r>
              <a:rPr lang="en-US" sz="2400" dirty="0"/>
              <a:t>Compared mean concentration of microplastics in </a:t>
            </a:r>
          </a:p>
          <a:p>
            <a:pPr algn="ctr"/>
            <a:r>
              <a:rPr lang="en-US" sz="2400" dirty="0"/>
              <a:t>postmortem brain tissue.</a:t>
            </a:r>
          </a:p>
          <a:p>
            <a:pPr algn="ctr"/>
            <a:endParaRPr lang="en-US" sz="1200" dirty="0"/>
          </a:p>
          <a:p>
            <a:pPr algn="ctr"/>
            <a:r>
              <a:rPr lang="en-US" sz="2400" dirty="0"/>
              <a:t>Article:  “P &lt; 0.0001”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What can we conclude?</a:t>
            </a:r>
          </a:p>
        </p:txBody>
      </p:sp>
    </p:spTree>
    <p:extLst>
      <p:ext uri="{BB962C8B-B14F-4D97-AF65-F5344CB8AC3E}">
        <p14:creationId xmlns:p14="http://schemas.microsoft.com/office/powerpoint/2010/main" val="4059511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5B034-38DD-2301-1C84-DD351264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EC78C-CAD7-259D-E483-D140734D5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2819400" cy="1143000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Effective</a:t>
            </a:r>
            <a:br>
              <a:rPr lang="en-US" sz="2800" dirty="0">
                <a:solidFill>
                  <a:srgbClr val="C00000"/>
                </a:solidFill>
              </a:rPr>
            </a:br>
            <a:r>
              <a:rPr lang="en-US" sz="2800" dirty="0">
                <a:solidFill>
                  <a:srgbClr val="C00000"/>
                </a:solidFill>
              </a:rPr>
              <a:t>Communication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67BBB-5E44-2AA9-37AE-2903920E9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143000"/>
            <a:ext cx="5604985" cy="419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B0F26C-5042-B185-0277-00F72C019FEF}"/>
              </a:ext>
            </a:extLst>
          </p:cNvPr>
          <p:cNvSpPr txBox="1"/>
          <p:nvPr/>
        </p:nvSpPr>
        <p:spPr>
          <a:xfrm>
            <a:off x="2057400" y="1752600"/>
            <a:ext cx="6781800" cy="3231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Rats love to play hide-and-seek!</a:t>
            </a:r>
          </a:p>
          <a:p>
            <a:pPr algn="ctr"/>
            <a:r>
              <a:rPr lang="en-US" sz="2400" dirty="0"/>
              <a:t>They squeak with excitement when playing!</a:t>
            </a:r>
          </a:p>
          <a:p>
            <a:pPr algn="ctr"/>
            <a:r>
              <a:rPr lang="en-US" sz="2400" dirty="0"/>
              <a:t>Do they understand the game?</a:t>
            </a:r>
          </a:p>
          <a:p>
            <a:pPr algn="ctr"/>
            <a:r>
              <a:rPr lang="en-US" sz="2400" dirty="0"/>
              <a:t>Compared mean amount of vocalizing between when rats are seeking vs when rats are hiding.</a:t>
            </a:r>
          </a:p>
          <a:p>
            <a:pPr algn="ctr"/>
            <a:endParaRPr lang="en-US" sz="1200" dirty="0"/>
          </a:p>
          <a:p>
            <a:pPr algn="ctr"/>
            <a:r>
              <a:rPr lang="en-US" sz="2400" dirty="0"/>
              <a:t>Article:  “p &lt; 0.001”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What can we conclude?</a:t>
            </a:r>
          </a:p>
        </p:txBody>
      </p:sp>
    </p:spTree>
    <p:extLst>
      <p:ext uri="{BB962C8B-B14F-4D97-AF65-F5344CB8AC3E}">
        <p14:creationId xmlns:p14="http://schemas.microsoft.com/office/powerpoint/2010/main" val="1569177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FECB2-571D-25F4-954B-5F612455B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8534400" cy="1524000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800" dirty="0"/>
              <a:t>3. Focus on conceptual understanding rather than algebraic manipulation and formulas.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C4A1B-1FF3-11C2-F6E2-F9C4E39FA021}"/>
              </a:ext>
            </a:extLst>
          </p:cNvPr>
          <p:cNvSpPr txBox="1"/>
          <p:nvPr/>
        </p:nvSpPr>
        <p:spPr>
          <a:xfrm>
            <a:off x="1447800" y="2438400"/>
            <a:ext cx="6477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Simulation-Based Inference!!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400" dirty="0"/>
              <a:t>Conceptual understanding!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Reduced focus on formulas/algebra!</a:t>
            </a:r>
          </a:p>
        </p:txBody>
      </p:sp>
    </p:spTree>
    <p:extLst>
      <p:ext uri="{BB962C8B-B14F-4D97-AF65-F5344CB8AC3E}">
        <p14:creationId xmlns:p14="http://schemas.microsoft.com/office/powerpoint/2010/main" val="1116671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30168-A345-5212-3884-B1111889E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81000"/>
            <a:ext cx="8534400" cy="1905000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800" dirty="0"/>
              <a:t>4. Integrate real data with a context and purpose throughout the course.  Select data that are meaningful and engaging to the students.  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C33BE-399B-E4C4-F517-B8180C4AFFE0}"/>
              </a:ext>
            </a:extLst>
          </p:cNvPr>
          <p:cNvSpPr txBox="1"/>
          <p:nvPr/>
        </p:nvSpPr>
        <p:spPr>
          <a:xfrm>
            <a:off x="1066800" y="2590800"/>
            <a:ext cx="7239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So important!!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Also can be really hard!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In our textbook writing, we think it is the most important thing we do.  </a:t>
            </a:r>
          </a:p>
        </p:txBody>
      </p:sp>
    </p:spTree>
    <p:extLst>
      <p:ext uri="{BB962C8B-B14F-4D97-AF65-F5344CB8AC3E}">
        <p14:creationId xmlns:p14="http://schemas.microsoft.com/office/powerpoint/2010/main" val="3552519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0EBF7-D10B-C4EC-4224-49D2BC3A3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21B9D-604F-9E6D-134A-37BD5A8AE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84048"/>
            <a:ext cx="6629400" cy="75895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Real Data:  Online Dating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D31CF-D59D-9BFC-5D57-153471108F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981200"/>
            <a:ext cx="8534400" cy="12508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129E08-DF1B-25DC-E12E-FFEB88E9A0A1}"/>
              </a:ext>
            </a:extLst>
          </p:cNvPr>
          <p:cNvSpPr txBox="1"/>
          <p:nvPr/>
        </p:nvSpPr>
        <p:spPr>
          <a:xfrm>
            <a:off x="990600" y="1752600"/>
            <a:ext cx="716280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Pew Research large survey</a:t>
            </a:r>
          </a:p>
          <a:p>
            <a:pPr algn="ctr"/>
            <a:r>
              <a:rPr lang="en-US" sz="2400" dirty="0"/>
              <a:t>Have you ever used online dating?</a:t>
            </a:r>
          </a:p>
          <a:p>
            <a:pPr algn="ctr"/>
            <a:r>
              <a:rPr lang="en-US" sz="2400" dirty="0"/>
              <a:t>30% said yes.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Standard confidence interval for a proportion</a:t>
            </a:r>
          </a:p>
        </p:txBody>
      </p:sp>
    </p:spTree>
    <p:extLst>
      <p:ext uri="{BB962C8B-B14F-4D97-AF65-F5344CB8AC3E}">
        <p14:creationId xmlns:p14="http://schemas.microsoft.com/office/powerpoint/2010/main" val="3481149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0B7E3-F43E-0362-DBC3-D2DCA0053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1D71-73C2-3BB0-FDD2-F2E87F5E0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84048"/>
            <a:ext cx="6629400" cy="75895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Real Data:  Eating Organic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6136DE-F427-8307-6532-C8D5E29B6A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572930"/>
            <a:ext cx="8641632" cy="1779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D4A9D8-462C-4AD3-21E3-4595FF4AC9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768" y="3352800"/>
            <a:ext cx="8596464" cy="964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53E415-9951-6E42-8BA9-F3995CCC571E}"/>
              </a:ext>
            </a:extLst>
          </p:cNvPr>
          <p:cNvSpPr txBox="1"/>
          <p:nvPr/>
        </p:nvSpPr>
        <p:spPr>
          <a:xfrm>
            <a:off x="990600" y="1516653"/>
            <a:ext cx="7162800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Fruit flies randomly divided.</a:t>
            </a:r>
          </a:p>
          <a:p>
            <a:pPr algn="ctr"/>
            <a:r>
              <a:rPr lang="en-US" sz="2400" dirty="0"/>
              <a:t>500 fed organic potatoes; 500 regular potatoes.</a:t>
            </a:r>
          </a:p>
          <a:p>
            <a:pPr algn="ctr"/>
            <a:endParaRPr lang="en-US" sz="1200" dirty="0"/>
          </a:p>
          <a:p>
            <a:pPr algn="ctr"/>
            <a:r>
              <a:rPr lang="en-US" sz="2400" dirty="0"/>
              <a:t>After 13 days:</a:t>
            </a:r>
          </a:p>
          <a:p>
            <a:pPr algn="ctr"/>
            <a:r>
              <a:rPr lang="en-US" sz="2400" dirty="0"/>
              <a:t>Organic:  318 of 500 still alive</a:t>
            </a:r>
          </a:p>
          <a:p>
            <a:pPr algn="ctr"/>
            <a:r>
              <a:rPr lang="en-US" sz="2400" dirty="0"/>
              <a:t>Not-organic:  285 of 500 still alive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Standard difference in proportions hypothesis test</a:t>
            </a:r>
          </a:p>
        </p:txBody>
      </p:sp>
    </p:spTree>
    <p:extLst>
      <p:ext uri="{BB962C8B-B14F-4D97-AF65-F5344CB8AC3E}">
        <p14:creationId xmlns:p14="http://schemas.microsoft.com/office/powerpoint/2010/main" val="4126232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23D4-EEE5-D6E6-7075-357E88B5E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1066800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5. Encourage multivariable thinking. </a:t>
            </a:r>
            <a:r>
              <a:rPr lang="en-US" sz="2800" dirty="0"/>
              <a:t>  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E8A35-B6A7-3AFA-32FE-6EBEAB661009}"/>
              </a:ext>
            </a:extLst>
          </p:cNvPr>
          <p:cNvSpPr txBox="1"/>
          <p:nvPr/>
        </p:nvSpPr>
        <p:spPr>
          <a:xfrm>
            <a:off x="1600200" y="2340114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5"/>
              </a:rPr>
              <a:t>www.gapminder.org</a:t>
            </a:r>
            <a:r>
              <a:rPr lang="en-US" sz="40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847030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E82D6-7B65-E374-852F-2FDE39F71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85725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Multivariable Thinking:  </a:t>
            </a:r>
            <a:r>
              <a:rPr lang="en-US" sz="3600" dirty="0" err="1">
                <a:solidFill>
                  <a:srgbClr val="C00000"/>
                </a:solidFill>
              </a:rPr>
              <a:t>Gapminder</a:t>
            </a:r>
            <a:endParaRPr lang="en-US" sz="3600" dirty="0">
              <a:solidFill>
                <a:srgbClr val="C00000"/>
              </a:solidFill>
            </a:endParaRPr>
          </a:p>
        </p:txBody>
      </p:sp>
      <p:pic>
        <p:nvPicPr>
          <p:cNvPr id="3" name="Picture 8" descr="https://lh7-us.googleusercontent.com/9mNkM4TtA7pusiKcV5HJQBoGiFnzd7C1J_oop52zYo2YUrruFyhIxVI8GAw6WquwpaM-NnMsJJCaE-pMvGY6XPUfOESTUwdQMiQebrFy9L0Ez2HzXJ5GPw1jC2h-5IDHUsQKPRjLHhyNJto=s2048">
            <a:extLst>
              <a:ext uri="{FF2B5EF4-FFF2-40B4-BE49-F238E27FC236}">
                <a16:creationId xmlns:a16="http://schemas.microsoft.com/office/drawing/2014/main" id="{11A1B3F4-1C64-5D33-94D1-BA8D83B22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880676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10200" y="5867400"/>
            <a:ext cx="289560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www.gapminder.org/tools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B5A82-BC04-C6BA-3FA5-D30F0F1CC0D8}"/>
              </a:ext>
            </a:extLst>
          </p:cNvPr>
          <p:cNvSpPr txBox="1"/>
          <p:nvPr/>
        </p:nvSpPr>
        <p:spPr>
          <a:xfrm>
            <a:off x="685800" y="2489537"/>
            <a:ext cx="7924800" cy="11387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No Algebra!</a:t>
            </a:r>
          </a:p>
          <a:p>
            <a:pPr algn="ctr"/>
            <a:r>
              <a:rPr lang="en-US" sz="2800" dirty="0"/>
              <a:t>But lots of thinking about and understanding data!</a:t>
            </a:r>
          </a:p>
        </p:txBody>
      </p:sp>
    </p:spTree>
    <p:extLst>
      <p:ext uri="{BB962C8B-B14F-4D97-AF65-F5344CB8AC3E}">
        <p14:creationId xmlns:p14="http://schemas.microsoft.com/office/powerpoint/2010/main" val="396132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1FA8B-CB35-4AC4-5475-42131530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32BF-CC8E-C949-DC12-B05D82B60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1066800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5. Encourage multivariable thinking. </a:t>
            </a:r>
            <a:r>
              <a:rPr lang="en-US" sz="2800" dirty="0"/>
              <a:t>  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22A16-9930-9469-266F-D08B0E667AFD}"/>
              </a:ext>
            </a:extLst>
          </p:cNvPr>
          <p:cNvSpPr txBox="1"/>
          <p:nvPr/>
        </p:nvSpPr>
        <p:spPr>
          <a:xfrm>
            <a:off x="304800" y="1905000"/>
            <a:ext cx="838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introduce multivariable thinking with confounding variables very early.</a:t>
            </a:r>
          </a:p>
          <a:p>
            <a:endParaRPr lang="en-US" sz="2400" dirty="0"/>
          </a:p>
          <a:p>
            <a:r>
              <a:rPr lang="en-US" sz="2400" dirty="0"/>
              <a:t>Can have students discussing/interpreting Data Visualizations with enhanced scatterplots and online apps like </a:t>
            </a:r>
            <a:r>
              <a:rPr lang="en-US" sz="2400" dirty="0">
                <a:hlinkClick r:id="rId5"/>
              </a:rPr>
              <a:t>www.gapminder.org</a:t>
            </a:r>
            <a:r>
              <a:rPr lang="en-US" sz="2400" dirty="0"/>
              <a:t>, also early in a course.</a:t>
            </a:r>
          </a:p>
          <a:p>
            <a:endParaRPr lang="en-US" sz="2400" dirty="0"/>
          </a:p>
          <a:p>
            <a:r>
              <a:rPr lang="en-US" sz="2400" dirty="0"/>
              <a:t>More advanced topics such as a soft introduction to Multiple Regression or creating their own data visualizations may or may not be included.  </a:t>
            </a:r>
          </a:p>
        </p:txBody>
      </p:sp>
    </p:spTree>
    <p:extLst>
      <p:ext uri="{BB962C8B-B14F-4D97-AF65-F5344CB8AC3E}">
        <p14:creationId xmlns:p14="http://schemas.microsoft.com/office/powerpoint/2010/main" val="598913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BEDB-1F78-C296-92FB-43574D9A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81000"/>
            <a:ext cx="8534400" cy="1447800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6. Incorporate software/apps to explore concepts and work with data.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0FFCE-A87A-9537-9B2F-C642A95EFCBB}"/>
              </a:ext>
            </a:extLst>
          </p:cNvPr>
          <p:cNvSpPr txBox="1"/>
          <p:nvPr/>
        </p:nvSpPr>
        <p:spPr>
          <a:xfrm>
            <a:off x="2057400" y="2133600"/>
            <a:ext cx="510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/>
              <a:t>StatKey</a:t>
            </a:r>
            <a:r>
              <a:rPr lang="en-US" sz="5400" b="1" dirty="0"/>
              <a:t>!!!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37381-A546-96D6-8AC1-E0E0A93CBCAE}"/>
              </a:ext>
            </a:extLst>
          </p:cNvPr>
          <p:cNvSpPr txBox="1"/>
          <p:nvPr/>
        </p:nvSpPr>
        <p:spPr>
          <a:xfrm>
            <a:off x="228600" y="3048000"/>
            <a:ext cx="8686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Or any other statistical software or app!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Technology should change what and how we teach.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The recommendation is to use technology for all graphs and summary statistics rather than drawing or computing by hand.</a:t>
            </a:r>
          </a:p>
        </p:txBody>
      </p:sp>
    </p:spTree>
    <p:extLst>
      <p:ext uri="{BB962C8B-B14F-4D97-AF65-F5344CB8AC3E}">
        <p14:creationId xmlns:p14="http://schemas.microsoft.com/office/powerpoint/2010/main" val="3788811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A0522C-5D87-D63B-C38D-6A13E60C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B9C61-6D50-5E2B-F717-FAAAEF65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52400"/>
            <a:ext cx="8689848" cy="12192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Technology:</a:t>
            </a:r>
            <a:br>
              <a:rPr lang="en-US" sz="3600" dirty="0">
                <a:solidFill>
                  <a:srgbClr val="C00000"/>
                </a:solidFill>
              </a:rPr>
            </a:br>
            <a:r>
              <a:rPr lang="en-US" sz="3600" dirty="0">
                <a:solidFill>
                  <a:srgbClr val="C00000"/>
                </a:solidFill>
              </a:rPr>
              <a:t> Audience Score for Hollywood Movies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76E0C-5CAE-2A69-43BE-7956E8DCF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1981200"/>
            <a:ext cx="5184648" cy="1947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95E63B-12CC-0BD8-4D81-F3DFC60B8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886" y="1561605"/>
            <a:ext cx="3073113" cy="28579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D5B785-10A0-9C23-2F59-781796FEE65E}"/>
              </a:ext>
            </a:extLst>
          </p:cNvPr>
          <p:cNvSpPr txBox="1"/>
          <p:nvPr/>
        </p:nvSpPr>
        <p:spPr>
          <a:xfrm>
            <a:off x="377952" y="1633478"/>
            <a:ext cx="5184648" cy="37856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For offline assessments:</a:t>
            </a:r>
          </a:p>
          <a:p>
            <a:pPr algn="ctr"/>
            <a:r>
              <a:rPr lang="en-US" sz="2400" dirty="0"/>
              <a:t>Give summary statistics or graphs.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Emphasis is on </a:t>
            </a:r>
            <a:r>
              <a:rPr lang="en-US" sz="2400" u="sng" dirty="0"/>
              <a:t>interpreting</a:t>
            </a:r>
            <a:r>
              <a:rPr lang="en-US" sz="2400" dirty="0"/>
              <a:t>, </a:t>
            </a:r>
          </a:p>
          <a:p>
            <a:pPr algn="ctr"/>
            <a:r>
              <a:rPr lang="en-US" sz="2400" dirty="0"/>
              <a:t>not calculating or creating by hand.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Students can discuss what the summary statistics show,</a:t>
            </a:r>
          </a:p>
          <a:p>
            <a:pPr algn="ctr"/>
            <a:r>
              <a:rPr lang="en-US" sz="2400" dirty="0"/>
              <a:t>Or lots of specific questions can be asked. </a:t>
            </a:r>
          </a:p>
        </p:txBody>
      </p:sp>
    </p:spTree>
    <p:extLst>
      <p:ext uri="{BB962C8B-B14F-4D97-AF65-F5344CB8AC3E}">
        <p14:creationId xmlns:p14="http://schemas.microsoft.com/office/powerpoint/2010/main" val="3335161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19F36-7143-6F5C-8214-024CB07FC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479C-4AF5-76A5-61C1-312817F3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400"/>
            <a:ext cx="9067800" cy="1219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Technology:</a:t>
            </a:r>
            <a:br>
              <a:rPr lang="en-US" sz="3600" dirty="0">
                <a:solidFill>
                  <a:srgbClr val="C00000"/>
                </a:solidFill>
              </a:rPr>
            </a:br>
            <a:r>
              <a:rPr lang="en-US" sz="3600" dirty="0">
                <a:solidFill>
                  <a:srgbClr val="C00000"/>
                </a:solidFill>
              </a:rPr>
              <a:t> Budget for Hollywood Movies, by Genre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1708F-56C8-D8A2-6837-20BC774C0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131" y="1990524"/>
            <a:ext cx="4258269" cy="28769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0C2D2-2D1B-73E7-6C0A-7FE1246005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209800"/>
            <a:ext cx="4172532" cy="20481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E7F2A3-36F4-A31B-F262-5C6037E804CE}"/>
              </a:ext>
            </a:extLst>
          </p:cNvPr>
          <p:cNvSpPr txBox="1"/>
          <p:nvPr/>
        </p:nvSpPr>
        <p:spPr>
          <a:xfrm>
            <a:off x="381000" y="1676400"/>
            <a:ext cx="4258269" cy="4524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For offline assessments:</a:t>
            </a:r>
          </a:p>
          <a:p>
            <a:pPr algn="ctr"/>
            <a:r>
              <a:rPr lang="en-US" sz="2400" dirty="0"/>
              <a:t>Give summary statistics or graphs.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Emphasis is on </a:t>
            </a:r>
            <a:r>
              <a:rPr lang="en-US" sz="2400" u="sng" dirty="0"/>
              <a:t>interpreting</a:t>
            </a:r>
            <a:r>
              <a:rPr lang="en-US" sz="2400" dirty="0"/>
              <a:t>, </a:t>
            </a:r>
          </a:p>
          <a:p>
            <a:pPr algn="ctr"/>
            <a:r>
              <a:rPr lang="en-US" sz="2400" dirty="0"/>
              <a:t>not calculating or creating by hand.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Students can discuss what the graph shows,</a:t>
            </a:r>
          </a:p>
          <a:p>
            <a:pPr algn="ctr"/>
            <a:r>
              <a:rPr lang="en-US" sz="2400" dirty="0"/>
              <a:t>Or lots of specific questions can be asked. </a:t>
            </a:r>
          </a:p>
        </p:txBody>
      </p:sp>
    </p:spTree>
    <p:extLst>
      <p:ext uri="{BB962C8B-B14F-4D97-AF65-F5344CB8AC3E}">
        <p14:creationId xmlns:p14="http://schemas.microsoft.com/office/powerpoint/2010/main" val="536990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F95FF-B79B-E466-DF5E-AA067325B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5F1A-0EBE-DD33-69D9-1B68ED5B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400"/>
            <a:ext cx="9067800" cy="12192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Technology:</a:t>
            </a:r>
            <a:br>
              <a:rPr lang="en-US" sz="3600" dirty="0">
                <a:solidFill>
                  <a:srgbClr val="C00000"/>
                </a:solidFill>
              </a:rPr>
            </a:br>
            <a:r>
              <a:rPr lang="en-US" sz="3600" dirty="0">
                <a:solidFill>
                  <a:srgbClr val="C00000"/>
                </a:solidFill>
              </a:rPr>
              <a:t> Understanding Correlation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99B8E-DC3A-BB25-905D-C52FA53503C8}"/>
              </a:ext>
            </a:extLst>
          </p:cNvPr>
          <p:cNvSpPr txBox="1"/>
          <p:nvPr/>
        </p:nvSpPr>
        <p:spPr>
          <a:xfrm>
            <a:off x="685800" y="2082225"/>
            <a:ext cx="8001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www.istics.net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	=&gt; Stat.istics.net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		=&gt;  Guessing Correlations</a:t>
            </a:r>
          </a:p>
        </p:txBody>
      </p:sp>
    </p:spTree>
    <p:extLst>
      <p:ext uri="{BB962C8B-B14F-4D97-AF65-F5344CB8AC3E}">
        <p14:creationId xmlns:p14="http://schemas.microsoft.com/office/powerpoint/2010/main" val="521682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F288B-98C5-4290-5BB0-A7E5DF639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04800"/>
            <a:ext cx="8534400" cy="1447800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br>
              <a:rPr lang="en-US" sz="2800" dirty="0"/>
            </a:br>
            <a:r>
              <a:rPr lang="en-US" sz="2800" dirty="0">
                <a:solidFill>
                  <a:srgbClr val="C00000"/>
                </a:solidFill>
              </a:rPr>
              <a:t>7. Emphasize responsible and ethical conduct in the collection and use of data and in their analysis.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59286A-5C42-A978-8E54-4BA81BB9D2ED}"/>
              </a:ext>
            </a:extLst>
          </p:cNvPr>
          <p:cNvSpPr txBox="1"/>
          <p:nvPr/>
        </p:nvSpPr>
        <p:spPr>
          <a:xfrm>
            <a:off x="1219200" y="2514600"/>
            <a:ext cx="6553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Particularly in a World of AI, discussions of ethics become essential. 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Particularly in a World of Data, discussions of ethics become essential. 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Focus throughout on where data came from, how it is being used, the scope of inference.</a:t>
            </a:r>
          </a:p>
        </p:txBody>
      </p:sp>
    </p:spTree>
    <p:extLst>
      <p:ext uri="{BB962C8B-B14F-4D97-AF65-F5344CB8AC3E}">
        <p14:creationId xmlns:p14="http://schemas.microsoft.com/office/powerpoint/2010/main" val="3820129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E311-793E-9182-82C8-01C7DD24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Ethical Conduct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D3182-71F0-D9F9-7B37-EADF434C7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03" y="1066800"/>
            <a:ext cx="7850497" cy="381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3A6AE4-5826-A90E-90A6-99FE057975B6}"/>
              </a:ext>
            </a:extLst>
          </p:cNvPr>
          <p:cNvSpPr txBox="1"/>
          <p:nvPr/>
        </p:nvSpPr>
        <p:spPr>
          <a:xfrm>
            <a:off x="1752600" y="1676400"/>
            <a:ext cx="5184648" cy="30469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Warning signs of a heart attack:</a:t>
            </a:r>
          </a:p>
          <a:p>
            <a:r>
              <a:rPr lang="en-US" sz="2400" dirty="0"/>
              <a:t>Sample only included males</a:t>
            </a:r>
          </a:p>
          <a:p>
            <a:endParaRPr lang="en-US" sz="2400" dirty="0"/>
          </a:p>
          <a:p>
            <a:r>
              <a:rPr lang="en-US" sz="2400" dirty="0"/>
              <a:t>HeLa cells from Henrietta Lacks, used without her consent or knowledge.</a:t>
            </a:r>
          </a:p>
          <a:p>
            <a:endParaRPr lang="en-US" sz="2400" dirty="0"/>
          </a:p>
          <a:p>
            <a:r>
              <a:rPr lang="en-US" sz="2400" dirty="0"/>
              <a:t>Racial bias in police stops:</a:t>
            </a:r>
          </a:p>
          <a:p>
            <a:r>
              <a:rPr lang="en-US" sz="2400" dirty="0"/>
              <a:t>Do computer algorithms help? </a:t>
            </a:r>
          </a:p>
        </p:txBody>
      </p:sp>
    </p:spTree>
    <p:extLst>
      <p:ext uri="{BB962C8B-B14F-4D97-AF65-F5344CB8AC3E}">
        <p14:creationId xmlns:p14="http://schemas.microsoft.com/office/powerpoint/2010/main" val="2719098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0F0C-760F-93F6-52C8-7D2EF62C2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8534400" cy="1520952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8. Employ evidence-based pedagogies that actively engage students in the learning process.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FBD58-C988-51A1-7599-85F0FBB7697D}"/>
              </a:ext>
            </a:extLst>
          </p:cNvPr>
          <p:cNvSpPr txBox="1"/>
          <p:nvPr/>
        </p:nvSpPr>
        <p:spPr>
          <a:xfrm>
            <a:off x="762000" y="2133600"/>
            <a:ext cx="7620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In-class discussions!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In-class group work!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In-class </a:t>
            </a:r>
            <a:r>
              <a:rPr lang="en-US" sz="2800" u="sng" dirty="0"/>
              <a:t>graded</a:t>
            </a:r>
            <a:r>
              <a:rPr lang="en-US" sz="2800" dirty="0"/>
              <a:t> group work!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Open-ended questions!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Projects!</a:t>
            </a:r>
          </a:p>
        </p:txBody>
      </p:sp>
    </p:spTree>
    <p:extLst>
      <p:ext uri="{BB962C8B-B14F-4D97-AF65-F5344CB8AC3E}">
        <p14:creationId xmlns:p14="http://schemas.microsoft.com/office/powerpoint/2010/main" val="422295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DB63-491C-6EBE-EEA3-D308E931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04800"/>
            <a:ext cx="8534400" cy="1524000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9. Use a variety of formative and summative assessments to improve teaching and learning.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0C8BF8-1E99-348C-80D6-F314A50F84BE}"/>
              </a:ext>
            </a:extLst>
          </p:cNvPr>
          <p:cNvSpPr txBox="1"/>
          <p:nvPr/>
        </p:nvSpPr>
        <p:spPr>
          <a:xfrm>
            <a:off x="533400" y="1981200"/>
            <a:ext cx="815644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Creative assessments are even more important now in the age of AI.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Need a variety of types and levels of assessment!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Short easy questions</a:t>
            </a:r>
          </a:p>
          <a:p>
            <a:pPr algn="ctr"/>
            <a:r>
              <a:rPr lang="en-US" sz="2800" dirty="0"/>
              <a:t>Online homework questions that are engaging</a:t>
            </a:r>
          </a:p>
          <a:p>
            <a:pPr algn="ctr"/>
            <a:r>
              <a:rPr lang="en-US" sz="2800" dirty="0"/>
              <a:t>Medium questions for quiz/exam</a:t>
            </a:r>
          </a:p>
          <a:p>
            <a:pPr algn="ctr"/>
            <a:r>
              <a:rPr lang="en-US" sz="2800" dirty="0"/>
              <a:t>More involved questions for group/class discussions</a:t>
            </a:r>
          </a:p>
          <a:p>
            <a:pPr algn="ctr"/>
            <a:r>
              <a:rPr lang="en-US" sz="2800" dirty="0"/>
              <a:t>Projects!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99761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B4E12-09A0-57D1-0B9C-5565185B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A3F8-CA40-7D04-12E2-6C35688F1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Variety of Assessments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2216F-1D32-B55D-82AF-D2FB5F617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873" y="1199902"/>
            <a:ext cx="4163327" cy="4362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3C6C7B-FD81-065C-BE37-9C154DC26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904629"/>
            <a:ext cx="3870942" cy="1914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F6CC81-600D-221E-21D0-E041E3482352}"/>
              </a:ext>
            </a:extLst>
          </p:cNvPr>
          <p:cNvSpPr txBox="1"/>
          <p:nvPr/>
        </p:nvSpPr>
        <p:spPr>
          <a:xfrm>
            <a:off x="475753" y="990600"/>
            <a:ext cx="3791447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“Skill Builders”</a:t>
            </a:r>
          </a:p>
          <a:p>
            <a:r>
              <a:rPr lang="en-US" sz="2000" dirty="0"/>
              <a:t>Short easy questions to build foundational understanding and build confidence. </a:t>
            </a:r>
          </a:p>
          <a:p>
            <a:r>
              <a:rPr lang="en-US" sz="2000" dirty="0"/>
              <a:t>Also good for quick oral assessments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1F8E4E-4D17-2E6A-A13B-4AA126E5A6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971800"/>
            <a:ext cx="3989864" cy="32007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7B86C3-D3AC-0F0A-1176-2A518BB29984}"/>
              </a:ext>
            </a:extLst>
          </p:cNvPr>
          <p:cNvSpPr txBox="1"/>
          <p:nvPr/>
        </p:nvSpPr>
        <p:spPr>
          <a:xfrm>
            <a:off x="304800" y="3858161"/>
            <a:ext cx="4343400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Hypothesis Test</a:t>
            </a:r>
          </a:p>
          <a:p>
            <a:r>
              <a:rPr lang="en-US" sz="2000" dirty="0"/>
              <a:t>Watch Out for Lions after a Full Moon!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7BCB5-0FAA-BA45-F8E6-35D8B095988D}"/>
              </a:ext>
            </a:extLst>
          </p:cNvPr>
          <p:cNvSpPr txBox="1"/>
          <p:nvPr/>
        </p:nvSpPr>
        <p:spPr>
          <a:xfrm>
            <a:off x="4648200" y="2057400"/>
            <a:ext cx="4343400" cy="3170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Trans-Generational Effects of Environment</a:t>
            </a:r>
          </a:p>
          <a:p>
            <a:pPr algn="ctr"/>
            <a:r>
              <a:rPr lang="en-US" sz="2000" dirty="0"/>
              <a:t>Trans-Generation Effects of Diet</a:t>
            </a:r>
          </a:p>
          <a:p>
            <a:pPr algn="ctr"/>
            <a:r>
              <a:rPr lang="en-US" sz="2000" dirty="0"/>
              <a:t>Are There Human Pheromones?</a:t>
            </a:r>
          </a:p>
          <a:p>
            <a:pPr algn="ctr"/>
            <a:r>
              <a:rPr lang="en-US" sz="2000" dirty="0"/>
              <a:t>Do Crows Hold a Grudge?</a:t>
            </a:r>
          </a:p>
          <a:p>
            <a:pPr algn="ctr"/>
            <a:r>
              <a:rPr lang="en-US" sz="2000" dirty="0"/>
              <a:t>Do Pigeons Remember a Face?</a:t>
            </a:r>
          </a:p>
          <a:p>
            <a:pPr algn="ctr"/>
            <a:r>
              <a:rPr lang="en-US" sz="2000" dirty="0"/>
              <a:t>Are Fast Food Diets and Depression related?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Group work/Full-Class Discussions</a:t>
            </a:r>
          </a:p>
        </p:txBody>
      </p:sp>
    </p:spTree>
    <p:extLst>
      <p:ext uri="{BB962C8B-B14F-4D97-AF65-F5344CB8AC3E}">
        <p14:creationId xmlns:p14="http://schemas.microsoft.com/office/powerpoint/2010/main" val="5226896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animBg="1"/>
      <p:bldP spid="9" grpId="0" uiExpand="1" animBg="1"/>
      <p:bldP spid="10" grpId="0" uiExpand="1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307AF-8506-D99B-F95A-C2203272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1447800"/>
          </a:xfr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C00000"/>
                </a:solidFill>
              </a:rPr>
            </a:br>
            <a:r>
              <a:rPr lang="en-US" sz="2800" dirty="0">
                <a:solidFill>
                  <a:srgbClr val="C00000"/>
                </a:solidFill>
              </a:rPr>
              <a:t>10. Implement a course design that uses inclusive strategies to foster a sense of belonging.</a:t>
            </a:r>
            <a:br>
              <a:rPr lang="en-US" sz="2800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CCA33-CC58-13CC-FBE1-8EB0B2BF4CAB}"/>
              </a:ext>
            </a:extLst>
          </p:cNvPr>
          <p:cNvSpPr txBox="1"/>
          <p:nvPr/>
        </p:nvSpPr>
        <p:spPr>
          <a:xfrm>
            <a:off x="1295400" y="1981200"/>
            <a:ext cx="68580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Back to AI</a:t>
            </a:r>
            <a:r>
              <a:rPr lang="en-US" sz="2800" dirty="0"/>
              <a:t>:</a:t>
            </a:r>
          </a:p>
          <a:p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2800" dirty="0"/>
              <a:t>We want students to WANT to learn.</a:t>
            </a:r>
          </a:p>
          <a:p>
            <a:pPr>
              <a:spcAft>
                <a:spcPts val="600"/>
              </a:spcAft>
            </a:pPr>
            <a:r>
              <a:rPr lang="en-US" sz="2800" dirty="0"/>
              <a:t>We want them to know we care.</a:t>
            </a:r>
          </a:p>
          <a:p>
            <a:pPr>
              <a:spcAft>
                <a:spcPts val="600"/>
              </a:spcAft>
            </a:pPr>
            <a:r>
              <a:rPr lang="en-US" sz="2800" dirty="0"/>
              <a:t>We want them to know that these ideas about data will be relevant in their lives!</a:t>
            </a:r>
          </a:p>
          <a:p>
            <a:pPr>
              <a:spcAft>
                <a:spcPts val="600"/>
              </a:spcAft>
            </a:pPr>
            <a:r>
              <a:rPr lang="en-US" sz="2800" dirty="0"/>
              <a:t>We want them ALL to feel welcomed and included.</a:t>
            </a:r>
          </a:p>
          <a:p>
            <a:pPr>
              <a:spcAft>
                <a:spcPts val="600"/>
              </a:spcAft>
            </a:pPr>
            <a:endParaRPr lang="en-US" sz="1000" dirty="0"/>
          </a:p>
          <a:p>
            <a:pPr>
              <a:spcAft>
                <a:spcPts val="600"/>
              </a:spcAft>
            </a:pPr>
            <a:r>
              <a:rPr lang="en-US" sz="2800" dirty="0"/>
              <a:t>One suggestion:  Student Hours!</a:t>
            </a:r>
          </a:p>
          <a:p>
            <a:pPr>
              <a:spcAft>
                <a:spcPts val="600"/>
              </a:spcAft>
            </a:pPr>
            <a:r>
              <a:rPr lang="en-US" sz="2800" dirty="0"/>
              <a:t>Another:  Combat </a:t>
            </a:r>
            <a:r>
              <a:rPr lang="en-US" sz="2800"/>
              <a:t>student loneliness!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41537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405C0-3227-CB36-7E68-20B6864D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7338-6AE9-8B38-957D-5822F2CD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11172"/>
            <a:ext cx="8534400" cy="1270028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C00000"/>
                </a:solidFill>
              </a:rPr>
              <a:t>Questions, Comments, Suggestions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7B822-E12C-C46F-D800-F4605939AFE9}"/>
              </a:ext>
            </a:extLst>
          </p:cNvPr>
          <p:cNvSpPr txBox="1"/>
          <p:nvPr/>
        </p:nvSpPr>
        <p:spPr>
          <a:xfrm>
            <a:off x="733778" y="2226796"/>
            <a:ext cx="80741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Patti Frazer Lock		Robin H. Lock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plock@stlawu.edu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rlock@stlawu.edu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54CF64-C33D-F63C-4E6F-9EC2FEBB81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5647602"/>
            <a:ext cx="3810000" cy="1042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735414-6AFA-5FB7-90D5-07316CF083D5}"/>
              </a:ext>
            </a:extLst>
          </p:cNvPr>
          <p:cNvSpPr txBox="1"/>
          <p:nvPr/>
        </p:nvSpPr>
        <p:spPr>
          <a:xfrm>
            <a:off x="4191000" y="5816025"/>
            <a:ext cx="5029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www.asacollegegaise.org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946AC-307D-2492-0D25-6DA027E873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0" y="3443111"/>
            <a:ext cx="2238687" cy="21243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EDAED7-4823-67CB-83B2-1E28C4EEB57C}"/>
              </a:ext>
            </a:extLst>
          </p:cNvPr>
          <p:cNvSpPr txBox="1"/>
          <p:nvPr/>
        </p:nvSpPr>
        <p:spPr>
          <a:xfrm>
            <a:off x="2740152" y="3973689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Evaluation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605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6886C-601E-95E6-80AF-FD867856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B64A4B-FBE7-C63C-FA77-44FB680C4126}"/>
              </a:ext>
            </a:extLst>
          </p:cNvPr>
          <p:cNvSpPr txBox="1"/>
          <p:nvPr/>
        </p:nvSpPr>
        <p:spPr>
          <a:xfrm>
            <a:off x="1676400" y="0"/>
            <a:ext cx="64770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2026 College GAISE Recommendations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66A89D-D377-25E0-5B57-03AB41B4F202}"/>
              </a:ext>
            </a:extLst>
          </p:cNvPr>
          <p:cNvSpPr/>
          <p:nvPr/>
        </p:nvSpPr>
        <p:spPr>
          <a:xfrm>
            <a:off x="6400800" y="706261"/>
            <a:ext cx="2001371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EAD449-2B17-7782-1A57-15FAC7DF200B}"/>
              </a:ext>
            </a:extLst>
          </p:cNvPr>
          <p:cNvSpPr/>
          <p:nvPr/>
        </p:nvSpPr>
        <p:spPr>
          <a:xfrm>
            <a:off x="4343400" y="1392060"/>
            <a:ext cx="26670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4C46CE-27B1-90C6-D8AB-5459397CC6CF}"/>
              </a:ext>
            </a:extLst>
          </p:cNvPr>
          <p:cNvSpPr/>
          <p:nvPr/>
        </p:nvSpPr>
        <p:spPr>
          <a:xfrm>
            <a:off x="1524000" y="2057400"/>
            <a:ext cx="26670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E339D3-934A-5A90-8B8D-CAA4C399C5D6}"/>
              </a:ext>
            </a:extLst>
          </p:cNvPr>
          <p:cNvSpPr/>
          <p:nvPr/>
        </p:nvSpPr>
        <p:spPr>
          <a:xfrm>
            <a:off x="1524000" y="2748899"/>
            <a:ext cx="9906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965B98-A7EA-87BA-172A-90EB9DBDF0B2}"/>
              </a:ext>
            </a:extLst>
          </p:cNvPr>
          <p:cNvSpPr/>
          <p:nvPr/>
        </p:nvSpPr>
        <p:spPr>
          <a:xfrm>
            <a:off x="1676400" y="3402867"/>
            <a:ext cx="23622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31898-F685-1C07-E4DE-A54387501F65}"/>
              </a:ext>
            </a:extLst>
          </p:cNvPr>
          <p:cNvSpPr txBox="1"/>
          <p:nvPr/>
        </p:nvSpPr>
        <p:spPr>
          <a:xfrm>
            <a:off x="152400" y="291057"/>
            <a:ext cx="8839200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u="sng" dirty="0"/>
              <a:t>Recommendations for Statistics and Data Science</a:t>
            </a:r>
            <a:r>
              <a:rPr lang="en-US" sz="2000" dirty="0"/>
              <a:t>      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Teach statistics and data science as processes of gleaning insights from data to inform evidence-based decisions.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Emphasize effective written and oral communication of results from data, with attention to the scope and limitations of conclusions. 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Focus on conceptual understanding rather than algebraic manipulation and formulas.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Integrate real data with a context and purpose throughout the course.  Select data that are meaningful and engaging to the students.  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Encourage multivariable thinking.   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Incorporate software/apps to explore concepts and work with data.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Emphasize responsible and ethical conduct in the collection and use of data and in their analysis.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Employ evidence-based pedagogies that actively engage students in the learning process.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Use a variety of formative and summative assessments to improve teaching and learning.</a:t>
            </a:r>
          </a:p>
          <a:p>
            <a:pPr marL="342900" lvl="0" indent="-342900" fontAlgn="base">
              <a:spcAft>
                <a:spcPts val="600"/>
              </a:spcAft>
              <a:buFont typeface="+mj-lt"/>
              <a:buAutoNum type="arabicPeriod"/>
            </a:pPr>
            <a:r>
              <a:rPr lang="en-US" sz="2000" dirty="0"/>
              <a:t>Implement a course design that uses inclusive strategies to foster a sense of belonging. 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9F5FBB-5241-FAE6-5710-821307C1502C}"/>
              </a:ext>
            </a:extLst>
          </p:cNvPr>
          <p:cNvSpPr/>
          <p:nvPr/>
        </p:nvSpPr>
        <p:spPr>
          <a:xfrm>
            <a:off x="1828800" y="3838031"/>
            <a:ext cx="16002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D8C75D-DEB4-BF55-EF9B-96C802A18152}"/>
              </a:ext>
            </a:extLst>
          </p:cNvPr>
          <p:cNvSpPr/>
          <p:nvPr/>
        </p:nvSpPr>
        <p:spPr>
          <a:xfrm>
            <a:off x="3213175" y="4147994"/>
            <a:ext cx="16764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CA1406-FC8D-FE75-D9DC-AB6CC3A3C2AA}"/>
              </a:ext>
            </a:extLst>
          </p:cNvPr>
          <p:cNvSpPr/>
          <p:nvPr/>
        </p:nvSpPr>
        <p:spPr>
          <a:xfrm>
            <a:off x="2933700" y="4864934"/>
            <a:ext cx="32766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89D473-3CE9-8FAE-E3F9-5B65ECA4F1AC}"/>
              </a:ext>
            </a:extLst>
          </p:cNvPr>
          <p:cNvSpPr/>
          <p:nvPr/>
        </p:nvSpPr>
        <p:spPr>
          <a:xfrm>
            <a:off x="4724400" y="5561975"/>
            <a:ext cx="13716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0AAF07-0E80-2E70-FD46-FF7397611243}"/>
              </a:ext>
            </a:extLst>
          </p:cNvPr>
          <p:cNvSpPr/>
          <p:nvPr/>
        </p:nvSpPr>
        <p:spPr>
          <a:xfrm>
            <a:off x="4243444" y="6210844"/>
            <a:ext cx="1981200" cy="380999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3" grpId="0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3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Lock5</Template>
  <TotalTime>4929</TotalTime>
  <Words>1576</Words>
  <Application>Microsoft Office PowerPoint</Application>
  <PresentationFormat>On-screen Show (4:3)</PresentationFormat>
  <Paragraphs>247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GAISE Recommendations for Intro Stat : Improving Understanding and Success Rates</vt:lpstr>
      <vt:lpstr>What About AI?</vt:lpstr>
      <vt:lpstr>Solution Ideas?</vt:lpstr>
      <vt:lpstr>GAISE Guidelines for Assessment and Instruction in Statistics Education</vt:lpstr>
      <vt:lpstr>2026 College GAISE</vt:lpstr>
      <vt:lpstr>PowerPoint Presentation</vt:lpstr>
      <vt:lpstr>1. Teach statistics and data science as processes of gleaning insights from data to inform evidence-based decisions. </vt:lpstr>
      <vt:lpstr>Insights from Data</vt:lpstr>
      <vt:lpstr>Insights from Data</vt:lpstr>
      <vt:lpstr>2. Emphasize effective written and oral communication of results from data, with attention to the scope and limitations of conclusions.  </vt:lpstr>
      <vt:lpstr>Effective Communication</vt:lpstr>
      <vt:lpstr>Effective Communication</vt:lpstr>
      <vt:lpstr>3. Focus on conceptual understanding rather than algebraic manipulation and formulas. </vt:lpstr>
      <vt:lpstr>4. Integrate real data with a context and purpose throughout the course.  Select data that are meaningful and engaging to the students.   </vt:lpstr>
      <vt:lpstr>Real Data:  Online Dating</vt:lpstr>
      <vt:lpstr>Real Data:  Eating Organic</vt:lpstr>
      <vt:lpstr>5. Encourage multivariable thinking.    </vt:lpstr>
      <vt:lpstr>Multivariable Thinking:  Gapminder</vt:lpstr>
      <vt:lpstr>5. Encourage multivariable thinking.    </vt:lpstr>
      <vt:lpstr>6. Incorporate software/apps to explore concepts and work with data. </vt:lpstr>
      <vt:lpstr>Technology:  Audience Score for Hollywood Movies</vt:lpstr>
      <vt:lpstr>Technology:  Budget for Hollywood Movies, by Genre</vt:lpstr>
      <vt:lpstr>Technology:  Understanding Correlation</vt:lpstr>
      <vt:lpstr> 7. Emphasize responsible and ethical conduct in the collection and use of data and in their analysis. </vt:lpstr>
      <vt:lpstr>Ethical Conduct</vt:lpstr>
      <vt:lpstr>8. Employ evidence-based pedagogies that actively engage students in the learning process. </vt:lpstr>
      <vt:lpstr>9. Use a variety of formative and summative assessments to improve teaching and learning. </vt:lpstr>
      <vt:lpstr>Variety of Assessments</vt:lpstr>
      <vt:lpstr> 10. Implement a course design that uses inclusive strategies to foster a sense of belonging. </vt:lpstr>
      <vt:lpstr>Questions, Comments, Suggestions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Kari</dc:creator>
  <cp:lastModifiedBy>Robin Lock</cp:lastModifiedBy>
  <cp:revision>344</cp:revision>
  <cp:lastPrinted>2026-06-11T16:44:51Z</cp:lastPrinted>
  <dcterms:created xsi:type="dcterms:W3CDTF">2012-08-25T17:22:45Z</dcterms:created>
  <dcterms:modified xsi:type="dcterms:W3CDTF">2026-08-08T14:41:20Z</dcterms:modified>
</cp:coreProperties>
</file>